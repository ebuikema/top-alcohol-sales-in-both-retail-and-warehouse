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1" r:id="rId2"/>
    <p:sldId id="2562" r:id="rId3"/>
    <p:sldId id="2563" r:id="rId4"/>
    <p:sldId id="2564" r:id="rId5"/>
    <p:sldId id="2565" r:id="rId6"/>
    <p:sldId id="2566" r:id="rId7"/>
    <p:sldId id="2567" r:id="rId8"/>
    <p:sldId id="2584" r:id="rId9"/>
    <p:sldId id="2571" r:id="rId10"/>
    <p:sldId id="2572" r:id="rId11"/>
    <p:sldId id="2575" r:id="rId12"/>
    <p:sldId id="2576" r:id="rId13"/>
    <p:sldId id="2577" r:id="rId14"/>
    <p:sldId id="2578" r:id="rId15"/>
    <p:sldId id="2579" r:id="rId16"/>
    <p:sldId id="2580" r:id="rId17"/>
    <p:sldId id="258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hensive Alcohol Sales Report Analysis for Warehouse and Retail Sections" id="{DE378BA3-E46E-4A23-AB2E-548F65096B88}">
          <p14:sldIdLst>
            <p14:sldId id="2561"/>
            <p14:sldId id="2562"/>
          </p14:sldIdLst>
        </p14:section>
        <p14:section name="Overview of Alcohol Sales Performance" id="{4078320B-7159-4B04-B82A-0F61736981C2}">
          <p14:sldIdLst>
            <p14:sldId id="2563"/>
            <p14:sldId id="2564"/>
            <p14:sldId id="2565"/>
            <p14:sldId id="2566"/>
          </p14:sldIdLst>
        </p14:section>
        <p14:section name="Warehouse Alcohol Sales Analysis" id="{DA8F40A6-D1AA-41BB-81AE-3BF1CD60F51A}">
          <p14:sldIdLst>
            <p14:sldId id="2567"/>
            <p14:sldId id="2584"/>
          </p14:sldIdLst>
        </p14:section>
        <p14:section name="Retail Alcohol Sales Analysis" id="{514D51B0-5E5D-49D7-A1A1-1680FD57C935}">
          <p14:sldIdLst>
            <p14:sldId id="2571"/>
            <p14:sldId id="2572"/>
          </p14:sldIdLst>
        </p14:section>
        <p14:section name="Comparative Insights: Warehouse Vs. Retail" id="{FCBFCC22-5BA3-4167-B6AC-1F162707E946}">
          <p14:sldIdLst>
            <p14:sldId id="2575"/>
            <p14:sldId id="2576"/>
            <p14:sldId id="2577"/>
            <p14:sldId id="2578"/>
          </p14:sldIdLst>
        </p14:section>
        <p14:section name="Strategic Recommendations and Future Outlook" id="{BBE4CBFA-1288-4FB0-8AD4-F22913C188D3}">
          <p14:sldIdLst>
            <p14:sldId id="2579"/>
            <p14:sldId id="2580"/>
          </p14:sldIdLst>
        </p14:section>
        <p14:section name="Conclusion: Driving Success Through Insightful Analysis" id="{801BCE5C-EBC9-4BD4-B276-2FFDBD808ADE}">
          <p14:sldIdLst>
            <p14:sldId id="25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B3C32-13EC-4171-B9EE-EB055B704F2D}" v="1655" dt="2025-11-20T02:53:40.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0" d="100"/>
          <a:sy n="70" d="100"/>
        </p:scale>
        <p:origin x="1166" y="2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Buikema" userId="d26be2744036b0c5" providerId="LiveId" clId="{4FD392FA-F56A-4157-8C97-A431031AF8E0}"/>
    <pc:docChg chg="delSld modSld modSection">
      <pc:chgData name="Eric Buikema" userId="d26be2744036b0c5" providerId="LiveId" clId="{4FD392FA-F56A-4157-8C97-A431031AF8E0}" dt="2025-11-20T02:54:51.337" v="1761" actId="2696"/>
      <pc:docMkLst>
        <pc:docMk/>
      </pc:docMkLst>
      <pc:sldChg chg="modSp mod">
        <pc:chgData name="Eric Buikema" userId="d26be2744036b0c5" providerId="LiveId" clId="{4FD392FA-F56A-4157-8C97-A431031AF8E0}" dt="2025-11-20T02:45:50.193" v="104" actId="5793"/>
        <pc:sldMkLst>
          <pc:docMk/>
          <pc:sldMk cId="1772139193" sldId="2575"/>
        </pc:sldMkLst>
        <pc:spChg chg="mod">
          <ac:chgData name="Eric Buikema" userId="d26be2744036b0c5" providerId="LiveId" clId="{4FD392FA-F56A-4157-8C97-A431031AF8E0}" dt="2025-11-20T02:45:50.193" v="104" actId="5793"/>
          <ac:spMkLst>
            <pc:docMk/>
            <pc:sldMk cId="1772139193" sldId="2575"/>
            <ac:spMk id="11" creationId="{1E05A5FE-0BF9-4B57-2B26-969F843C03BF}"/>
          </ac:spMkLst>
        </pc:spChg>
      </pc:sldChg>
      <pc:sldChg chg="modSp">
        <pc:chgData name="Eric Buikema" userId="d26be2744036b0c5" providerId="LiveId" clId="{4FD392FA-F56A-4157-8C97-A431031AF8E0}" dt="2025-11-20T02:48:10.697" v="635" actId="20577"/>
        <pc:sldMkLst>
          <pc:docMk/>
          <pc:sldMk cId="362348841" sldId="2577"/>
        </pc:sldMkLst>
        <pc:spChg chg="mod">
          <ac:chgData name="Eric Buikema" userId="d26be2744036b0c5" providerId="LiveId" clId="{4FD392FA-F56A-4157-8C97-A431031AF8E0}" dt="2025-11-20T02:48:10.697" v="635" actId="20577"/>
          <ac:spMkLst>
            <pc:docMk/>
            <pc:sldMk cId="362348841" sldId="2577"/>
            <ac:spMk id="8" creationId="{D2E1BAE4-4728-4D8A-9092-733B33524ECE}"/>
          </ac:spMkLst>
        </pc:spChg>
      </pc:sldChg>
      <pc:sldChg chg="modSp modAnim">
        <pc:chgData name="Eric Buikema" userId="d26be2744036b0c5" providerId="LiveId" clId="{4FD392FA-F56A-4157-8C97-A431031AF8E0}" dt="2025-11-20T02:50:46.971" v="1255" actId="20577"/>
        <pc:sldMkLst>
          <pc:docMk/>
          <pc:sldMk cId="776817062" sldId="2578"/>
        </pc:sldMkLst>
        <pc:spChg chg="mod">
          <ac:chgData name="Eric Buikema" userId="d26be2744036b0c5" providerId="LiveId" clId="{4FD392FA-F56A-4157-8C97-A431031AF8E0}" dt="2025-11-20T02:50:46.971" v="1255" actId="20577"/>
          <ac:spMkLst>
            <pc:docMk/>
            <pc:sldMk cId="776817062" sldId="2578"/>
            <ac:spMk id="8" creationId="{AC2B8B02-55E7-4191-9543-67F6710A5D76}"/>
          </ac:spMkLst>
        </pc:spChg>
      </pc:sldChg>
      <pc:sldChg chg="modSp modAnim">
        <pc:chgData name="Eric Buikema" userId="d26be2744036b0c5" providerId="LiveId" clId="{4FD392FA-F56A-4157-8C97-A431031AF8E0}" dt="2025-11-20T02:53:40.529" v="1759" actId="20577"/>
        <pc:sldMkLst>
          <pc:docMk/>
          <pc:sldMk cId="4164545316" sldId="2580"/>
        </pc:sldMkLst>
        <pc:spChg chg="mod">
          <ac:chgData name="Eric Buikema" userId="d26be2744036b0c5" providerId="LiveId" clId="{4FD392FA-F56A-4157-8C97-A431031AF8E0}" dt="2025-11-20T02:53:40.529" v="1759" actId="20577"/>
          <ac:spMkLst>
            <pc:docMk/>
            <pc:sldMk cId="4164545316" sldId="2580"/>
            <ac:spMk id="8" creationId="{5590D764-2BCA-465E-A107-D46776B6DAF1}"/>
          </ac:spMkLst>
        </pc:spChg>
      </pc:sldChg>
      <pc:sldChg chg="del">
        <pc:chgData name="Eric Buikema" userId="d26be2744036b0c5" providerId="LiveId" clId="{4FD392FA-F56A-4157-8C97-A431031AF8E0}" dt="2025-11-20T02:54:45.463" v="1760" actId="2696"/>
        <pc:sldMkLst>
          <pc:docMk/>
          <pc:sldMk cId="2481455198" sldId="2581"/>
        </pc:sldMkLst>
      </pc:sldChg>
      <pc:sldChg chg="del">
        <pc:chgData name="Eric Buikema" userId="d26be2744036b0c5" providerId="LiveId" clId="{4FD392FA-F56A-4157-8C97-A431031AF8E0}" dt="2025-11-20T02:54:51.337" v="1761" actId="2696"/>
        <pc:sldMkLst>
          <pc:docMk/>
          <pc:sldMk cId="2834977157" sldId="258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21377F-2EB5-49ED-9A41-E8D17ECF8FC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779846B-C3A6-4FD9-9021-0FF8CD1D0293}">
      <dgm:prSet/>
      <dgm:spPr/>
      <dgm:t>
        <a:bodyPr/>
        <a:lstStyle/>
        <a:p>
          <a:pPr>
            <a:lnSpc>
              <a:spcPct val="100000"/>
            </a:lnSpc>
            <a:defRPr b="1"/>
          </a:pPr>
          <a:r>
            <a:rPr lang="en-US"/>
            <a:t>Value of Detailed Analysis</a:t>
          </a:r>
        </a:p>
      </dgm:t>
    </dgm:pt>
    <dgm:pt modelId="{C9BA321B-4AE9-4778-9EBF-23FB7CD1E23A}" type="parTrans" cxnId="{22BC6601-3011-4207-A9D9-EE18F34B1285}">
      <dgm:prSet/>
      <dgm:spPr/>
      <dgm:t>
        <a:bodyPr/>
        <a:lstStyle/>
        <a:p>
          <a:endParaRPr lang="en-US"/>
        </a:p>
      </dgm:t>
    </dgm:pt>
    <dgm:pt modelId="{6C42033B-7CE8-4B24-9E62-3A84A58FBD2E}" type="sibTrans" cxnId="{22BC6601-3011-4207-A9D9-EE18F34B1285}">
      <dgm:prSet/>
      <dgm:spPr/>
      <dgm:t>
        <a:bodyPr/>
        <a:lstStyle/>
        <a:p>
          <a:pPr>
            <a:lnSpc>
              <a:spcPct val="100000"/>
            </a:lnSpc>
            <a:defRPr b="1"/>
          </a:pPr>
          <a:endParaRPr lang="en-US"/>
        </a:p>
      </dgm:t>
    </dgm:pt>
    <dgm:pt modelId="{4676B6B6-E1CD-4832-9FBB-88CDF3F8100F}">
      <dgm:prSet/>
      <dgm:spPr/>
      <dgm:t>
        <a:bodyPr/>
        <a:lstStyle/>
        <a:p>
          <a:pPr>
            <a:lnSpc>
              <a:spcPct val="100000"/>
            </a:lnSpc>
          </a:pPr>
          <a:r>
            <a:rPr lang="en-US"/>
            <a:t>Thorough analysis of alcohol sales data reveals key insights that drive informed business decisions.</a:t>
          </a:r>
        </a:p>
      </dgm:t>
    </dgm:pt>
    <dgm:pt modelId="{ADB15214-210A-480E-AEDE-27DAF34A8666}" type="parTrans" cxnId="{59AAE0A5-8A6B-4282-99A1-210C30BE5B56}">
      <dgm:prSet/>
      <dgm:spPr/>
      <dgm:t>
        <a:bodyPr/>
        <a:lstStyle/>
        <a:p>
          <a:endParaRPr lang="en-US"/>
        </a:p>
      </dgm:t>
    </dgm:pt>
    <dgm:pt modelId="{125D2C8D-EED7-474C-B62A-EE252B252AF5}" type="sibTrans" cxnId="{59AAE0A5-8A6B-4282-99A1-210C30BE5B56}">
      <dgm:prSet/>
      <dgm:spPr/>
      <dgm:t>
        <a:bodyPr/>
        <a:lstStyle/>
        <a:p>
          <a:endParaRPr lang="en-US"/>
        </a:p>
      </dgm:t>
    </dgm:pt>
    <dgm:pt modelId="{47999D07-F4AB-4AE8-8B71-27117130EF51}">
      <dgm:prSet/>
      <dgm:spPr/>
      <dgm:t>
        <a:bodyPr/>
        <a:lstStyle/>
        <a:p>
          <a:pPr>
            <a:lnSpc>
              <a:spcPct val="100000"/>
            </a:lnSpc>
            <a:defRPr b="1"/>
          </a:pPr>
          <a:r>
            <a:rPr lang="en-US"/>
            <a:t>Strategic Decision Making</a:t>
          </a:r>
        </a:p>
      </dgm:t>
    </dgm:pt>
    <dgm:pt modelId="{FDDF033F-A58B-42CD-A243-FC4F74B01715}" type="parTrans" cxnId="{0A015FC3-6A46-489D-B6F4-1524E7A373F2}">
      <dgm:prSet/>
      <dgm:spPr/>
      <dgm:t>
        <a:bodyPr/>
        <a:lstStyle/>
        <a:p>
          <a:endParaRPr lang="en-US"/>
        </a:p>
      </dgm:t>
    </dgm:pt>
    <dgm:pt modelId="{4F723AEE-94AC-4891-A10B-4A0C718D0F2F}" type="sibTrans" cxnId="{0A015FC3-6A46-489D-B6F4-1524E7A373F2}">
      <dgm:prSet/>
      <dgm:spPr/>
      <dgm:t>
        <a:bodyPr/>
        <a:lstStyle/>
        <a:p>
          <a:pPr>
            <a:lnSpc>
              <a:spcPct val="100000"/>
            </a:lnSpc>
            <a:defRPr b="1"/>
          </a:pPr>
          <a:endParaRPr lang="en-US"/>
        </a:p>
      </dgm:t>
    </dgm:pt>
    <dgm:pt modelId="{BA770D19-8DCB-4A29-88E7-46E91B253879}">
      <dgm:prSet/>
      <dgm:spPr/>
      <dgm:t>
        <a:bodyPr/>
        <a:lstStyle/>
        <a:p>
          <a:pPr>
            <a:lnSpc>
              <a:spcPct val="100000"/>
            </a:lnSpc>
          </a:pPr>
          <a:r>
            <a:rPr lang="en-US"/>
            <a:t>Insights from data support effective strategies that enhance growth and operational efficiency.</a:t>
          </a:r>
        </a:p>
      </dgm:t>
    </dgm:pt>
    <dgm:pt modelId="{89367DE6-50AB-45AB-8758-1968CFD65ABD}" type="parTrans" cxnId="{2D4E10C9-165F-4F86-AD42-871C2E7F402E}">
      <dgm:prSet/>
      <dgm:spPr/>
      <dgm:t>
        <a:bodyPr/>
        <a:lstStyle/>
        <a:p>
          <a:endParaRPr lang="en-US"/>
        </a:p>
      </dgm:t>
    </dgm:pt>
    <dgm:pt modelId="{A14767C6-095C-485D-AD8E-17F752D68932}" type="sibTrans" cxnId="{2D4E10C9-165F-4F86-AD42-871C2E7F402E}">
      <dgm:prSet/>
      <dgm:spPr/>
      <dgm:t>
        <a:bodyPr/>
        <a:lstStyle/>
        <a:p>
          <a:endParaRPr lang="en-US"/>
        </a:p>
      </dgm:t>
    </dgm:pt>
    <dgm:pt modelId="{117CA4CF-0F55-4BDE-A561-50E8130F66BB}">
      <dgm:prSet/>
      <dgm:spPr/>
      <dgm:t>
        <a:bodyPr/>
        <a:lstStyle/>
        <a:p>
          <a:pPr>
            <a:lnSpc>
              <a:spcPct val="100000"/>
            </a:lnSpc>
            <a:defRPr b="1"/>
          </a:pPr>
          <a:r>
            <a:rPr lang="en-US"/>
            <a:t>Sustained Growth and Excellence</a:t>
          </a:r>
        </a:p>
      </dgm:t>
    </dgm:pt>
    <dgm:pt modelId="{B635AFDA-57F3-4518-8FAC-0A0D27E26D3C}" type="parTrans" cxnId="{65366CCB-8214-4465-BC89-F15C66FE4F56}">
      <dgm:prSet/>
      <dgm:spPr/>
      <dgm:t>
        <a:bodyPr/>
        <a:lstStyle/>
        <a:p>
          <a:endParaRPr lang="en-US"/>
        </a:p>
      </dgm:t>
    </dgm:pt>
    <dgm:pt modelId="{71E6BCAA-522E-4C5D-AACB-6FC56B688A9D}" type="sibTrans" cxnId="{65366CCB-8214-4465-BC89-F15C66FE4F56}">
      <dgm:prSet/>
      <dgm:spPr/>
      <dgm:t>
        <a:bodyPr/>
        <a:lstStyle/>
        <a:p>
          <a:endParaRPr lang="en-US"/>
        </a:p>
      </dgm:t>
    </dgm:pt>
    <dgm:pt modelId="{E43650CA-4BF4-407A-8D50-DFB2206847F8}">
      <dgm:prSet/>
      <dgm:spPr/>
      <dgm:t>
        <a:bodyPr/>
        <a:lstStyle/>
        <a:p>
          <a:pPr>
            <a:lnSpc>
              <a:spcPct val="100000"/>
            </a:lnSpc>
          </a:pPr>
          <a:r>
            <a:rPr lang="en-US"/>
            <a:t>Implementing recommendations fosters continuous growth and operational excellence over time.</a:t>
          </a:r>
        </a:p>
      </dgm:t>
    </dgm:pt>
    <dgm:pt modelId="{F7669A76-5DB3-4555-A4E6-CB98D6C30301}" type="parTrans" cxnId="{4BCEC41E-9ACD-4C8C-83F3-AFBDD9C19859}">
      <dgm:prSet/>
      <dgm:spPr/>
      <dgm:t>
        <a:bodyPr/>
        <a:lstStyle/>
        <a:p>
          <a:endParaRPr lang="en-US"/>
        </a:p>
      </dgm:t>
    </dgm:pt>
    <dgm:pt modelId="{4FCF8429-8BF5-4554-9281-0199269C8C4D}" type="sibTrans" cxnId="{4BCEC41E-9ACD-4C8C-83F3-AFBDD9C19859}">
      <dgm:prSet/>
      <dgm:spPr/>
      <dgm:t>
        <a:bodyPr/>
        <a:lstStyle/>
        <a:p>
          <a:endParaRPr lang="en-US"/>
        </a:p>
      </dgm:t>
    </dgm:pt>
    <dgm:pt modelId="{5962C667-3F59-45A2-A166-AD76548D0BEC}" type="pres">
      <dgm:prSet presAssocID="{1421377F-2EB5-49ED-9A41-E8D17ECF8FC6}" presName="Name0" presStyleCnt="0">
        <dgm:presLayoutVars>
          <dgm:dir/>
          <dgm:resizeHandles val="exact"/>
        </dgm:presLayoutVars>
      </dgm:prSet>
      <dgm:spPr/>
    </dgm:pt>
    <dgm:pt modelId="{F82C9BBC-BE50-4987-A820-77CDEA2BD2CA}" type="pres">
      <dgm:prSet presAssocID="{8779846B-C3A6-4FD9-9021-0FF8CD1D0293}" presName="compNode" presStyleCnt="0"/>
      <dgm:spPr/>
    </dgm:pt>
    <dgm:pt modelId="{271FC143-B14A-42FC-B257-D3D6AFC7E048}" type="pres">
      <dgm:prSet presAssocID="{8779846B-C3A6-4FD9-9021-0FF8CD1D0293}" presName="pictRect" presStyleLbl="revTx" presStyleIdx="0" presStyleCnt="6">
        <dgm:presLayoutVars>
          <dgm:chMax val="0"/>
          <dgm:bulletEnabled/>
        </dgm:presLayoutVars>
      </dgm:prSet>
      <dgm:spPr/>
    </dgm:pt>
    <dgm:pt modelId="{5C499D38-DDB1-44BC-8541-BA9980F03672}" type="pres">
      <dgm:prSet presAssocID="{8779846B-C3A6-4FD9-9021-0FF8CD1D0293}" presName="textRect" presStyleLbl="revTx" presStyleIdx="1" presStyleCnt="6">
        <dgm:presLayoutVars>
          <dgm:bulletEnabled/>
        </dgm:presLayoutVars>
      </dgm:prSet>
      <dgm:spPr/>
    </dgm:pt>
    <dgm:pt modelId="{A7131156-B773-42C7-9BC3-E86DA93B7508}" type="pres">
      <dgm:prSet presAssocID="{6C42033B-7CE8-4B24-9E62-3A84A58FBD2E}" presName="sibTrans" presStyleLbl="sibTrans2D1" presStyleIdx="0" presStyleCnt="0"/>
      <dgm:spPr/>
    </dgm:pt>
    <dgm:pt modelId="{63FE11B9-E8BE-4B20-9C71-E9C2DB9912BD}" type="pres">
      <dgm:prSet presAssocID="{47999D07-F4AB-4AE8-8B71-27117130EF51}" presName="compNode" presStyleCnt="0"/>
      <dgm:spPr/>
    </dgm:pt>
    <dgm:pt modelId="{452ED03F-0967-4BC1-A094-B5A56C325221}" type="pres">
      <dgm:prSet presAssocID="{47999D07-F4AB-4AE8-8B71-27117130EF51}" presName="pictRect" presStyleLbl="revTx" presStyleIdx="2" presStyleCnt="6">
        <dgm:presLayoutVars>
          <dgm:chMax val="0"/>
          <dgm:bulletEnabled/>
        </dgm:presLayoutVars>
      </dgm:prSet>
      <dgm:spPr/>
    </dgm:pt>
    <dgm:pt modelId="{8389F536-4935-43FB-BD88-73CE14C224AC}" type="pres">
      <dgm:prSet presAssocID="{47999D07-F4AB-4AE8-8B71-27117130EF51}" presName="textRect" presStyleLbl="revTx" presStyleIdx="3" presStyleCnt="6">
        <dgm:presLayoutVars>
          <dgm:bulletEnabled/>
        </dgm:presLayoutVars>
      </dgm:prSet>
      <dgm:spPr/>
    </dgm:pt>
    <dgm:pt modelId="{F929E6DA-58ED-4F3E-A015-15B24534D203}" type="pres">
      <dgm:prSet presAssocID="{4F723AEE-94AC-4891-A10B-4A0C718D0F2F}" presName="sibTrans" presStyleLbl="sibTrans2D1" presStyleIdx="0" presStyleCnt="0"/>
      <dgm:spPr/>
    </dgm:pt>
    <dgm:pt modelId="{7C487E38-01E6-470F-8D1B-38C8F0615642}" type="pres">
      <dgm:prSet presAssocID="{117CA4CF-0F55-4BDE-A561-50E8130F66BB}" presName="compNode" presStyleCnt="0"/>
      <dgm:spPr/>
    </dgm:pt>
    <dgm:pt modelId="{CE3FA724-A45A-46E0-9774-C3E4D94C3DA7}" type="pres">
      <dgm:prSet presAssocID="{117CA4CF-0F55-4BDE-A561-50E8130F66BB}" presName="pictRect" presStyleLbl="revTx" presStyleIdx="4" presStyleCnt="6">
        <dgm:presLayoutVars>
          <dgm:chMax val="0"/>
          <dgm:bulletEnabled/>
        </dgm:presLayoutVars>
      </dgm:prSet>
      <dgm:spPr/>
    </dgm:pt>
    <dgm:pt modelId="{5A8B3E86-83E2-4EA6-A0D5-227B65CCD727}" type="pres">
      <dgm:prSet presAssocID="{117CA4CF-0F55-4BDE-A561-50E8130F66BB}" presName="textRect" presStyleLbl="revTx" presStyleIdx="5" presStyleCnt="6">
        <dgm:presLayoutVars>
          <dgm:bulletEnabled/>
        </dgm:presLayoutVars>
      </dgm:prSet>
      <dgm:spPr/>
    </dgm:pt>
  </dgm:ptLst>
  <dgm:cxnLst>
    <dgm:cxn modelId="{22BC6601-3011-4207-A9D9-EE18F34B1285}" srcId="{1421377F-2EB5-49ED-9A41-E8D17ECF8FC6}" destId="{8779846B-C3A6-4FD9-9021-0FF8CD1D0293}" srcOrd="0" destOrd="0" parTransId="{C9BA321B-4AE9-4778-9EBF-23FB7CD1E23A}" sibTransId="{6C42033B-7CE8-4B24-9E62-3A84A58FBD2E}"/>
    <dgm:cxn modelId="{B0531507-1310-44A1-AB64-5458EAF42D59}" type="presOf" srcId="{4F723AEE-94AC-4891-A10B-4A0C718D0F2F}" destId="{F929E6DA-58ED-4F3E-A015-15B24534D203}" srcOrd="0" destOrd="0" presId="urn:microsoft.com/office/officeart/2024/3/layout/hArchList1"/>
    <dgm:cxn modelId="{4BCEC41E-9ACD-4C8C-83F3-AFBDD9C19859}" srcId="{117CA4CF-0F55-4BDE-A561-50E8130F66BB}" destId="{E43650CA-4BF4-407A-8D50-DFB2206847F8}" srcOrd="0" destOrd="0" parTransId="{F7669A76-5DB3-4555-A4E6-CB98D6C30301}" sibTransId="{4FCF8429-8BF5-4554-9281-0199269C8C4D}"/>
    <dgm:cxn modelId="{5BDDD62C-FB10-417D-BFDF-A6AE1839E91D}" type="presOf" srcId="{1421377F-2EB5-49ED-9A41-E8D17ECF8FC6}" destId="{5962C667-3F59-45A2-A166-AD76548D0BEC}" srcOrd="0" destOrd="0" presId="urn:microsoft.com/office/officeart/2024/3/layout/hArchList1"/>
    <dgm:cxn modelId="{943CD034-E0B1-4F12-B649-7747F90FD1D0}" type="presOf" srcId="{6C42033B-7CE8-4B24-9E62-3A84A58FBD2E}" destId="{A7131156-B773-42C7-9BC3-E86DA93B7508}" srcOrd="0" destOrd="0" presId="urn:microsoft.com/office/officeart/2024/3/layout/hArchList1"/>
    <dgm:cxn modelId="{4CF5F86F-D208-4BD5-A8C5-D0C265A600C4}" type="presOf" srcId="{47999D07-F4AB-4AE8-8B71-27117130EF51}" destId="{452ED03F-0967-4BC1-A094-B5A56C325221}" srcOrd="0" destOrd="0" presId="urn:microsoft.com/office/officeart/2024/3/layout/hArchList1"/>
    <dgm:cxn modelId="{ACFBF273-665A-485E-8C6E-C2C54A5103A4}" type="presOf" srcId="{117CA4CF-0F55-4BDE-A561-50E8130F66BB}" destId="{CE3FA724-A45A-46E0-9774-C3E4D94C3DA7}" srcOrd="0" destOrd="0" presId="urn:microsoft.com/office/officeart/2024/3/layout/hArchList1"/>
    <dgm:cxn modelId="{59AAE0A5-8A6B-4282-99A1-210C30BE5B56}" srcId="{8779846B-C3A6-4FD9-9021-0FF8CD1D0293}" destId="{4676B6B6-E1CD-4832-9FBB-88CDF3F8100F}" srcOrd="0" destOrd="0" parTransId="{ADB15214-210A-480E-AEDE-27DAF34A8666}" sibTransId="{125D2C8D-EED7-474C-B62A-EE252B252AF5}"/>
    <dgm:cxn modelId="{140655AA-D72E-48FF-9D18-F551B92A26E0}" type="presOf" srcId="{BA770D19-8DCB-4A29-88E7-46E91B253879}" destId="{8389F536-4935-43FB-BD88-73CE14C224AC}" srcOrd="0" destOrd="0" presId="urn:microsoft.com/office/officeart/2024/3/layout/hArchList1"/>
    <dgm:cxn modelId="{BF1077AE-111E-422A-9E9D-E08BFFF76692}" type="presOf" srcId="{E43650CA-4BF4-407A-8D50-DFB2206847F8}" destId="{5A8B3E86-83E2-4EA6-A0D5-227B65CCD727}" srcOrd="0" destOrd="0" presId="urn:microsoft.com/office/officeart/2024/3/layout/hArchList1"/>
    <dgm:cxn modelId="{7D4C01BD-C005-4F02-A00B-A818F169B351}" type="presOf" srcId="{4676B6B6-E1CD-4832-9FBB-88CDF3F8100F}" destId="{5C499D38-DDB1-44BC-8541-BA9980F03672}" srcOrd="0" destOrd="0" presId="urn:microsoft.com/office/officeart/2024/3/layout/hArchList1"/>
    <dgm:cxn modelId="{0A015FC3-6A46-489D-B6F4-1524E7A373F2}" srcId="{1421377F-2EB5-49ED-9A41-E8D17ECF8FC6}" destId="{47999D07-F4AB-4AE8-8B71-27117130EF51}" srcOrd="1" destOrd="0" parTransId="{FDDF033F-A58B-42CD-A243-FC4F74B01715}" sibTransId="{4F723AEE-94AC-4891-A10B-4A0C718D0F2F}"/>
    <dgm:cxn modelId="{2D4E10C9-165F-4F86-AD42-871C2E7F402E}" srcId="{47999D07-F4AB-4AE8-8B71-27117130EF51}" destId="{BA770D19-8DCB-4A29-88E7-46E91B253879}" srcOrd="0" destOrd="0" parTransId="{89367DE6-50AB-45AB-8758-1968CFD65ABD}" sibTransId="{A14767C6-095C-485D-AD8E-17F752D68932}"/>
    <dgm:cxn modelId="{65366CCB-8214-4465-BC89-F15C66FE4F56}" srcId="{1421377F-2EB5-49ED-9A41-E8D17ECF8FC6}" destId="{117CA4CF-0F55-4BDE-A561-50E8130F66BB}" srcOrd="2" destOrd="0" parTransId="{B635AFDA-57F3-4518-8FAC-0A0D27E26D3C}" sibTransId="{71E6BCAA-522E-4C5D-AACB-6FC56B688A9D}"/>
    <dgm:cxn modelId="{A125ADE2-201B-440F-91E3-9117C234E715}" type="presOf" srcId="{8779846B-C3A6-4FD9-9021-0FF8CD1D0293}" destId="{271FC143-B14A-42FC-B257-D3D6AFC7E048}" srcOrd="0" destOrd="0" presId="urn:microsoft.com/office/officeart/2024/3/layout/hArchList1"/>
    <dgm:cxn modelId="{5EA6FC58-1DAC-41B6-A44B-17E3F57ADE00}" type="presParOf" srcId="{5962C667-3F59-45A2-A166-AD76548D0BEC}" destId="{F82C9BBC-BE50-4987-A820-77CDEA2BD2CA}" srcOrd="0" destOrd="0" presId="urn:microsoft.com/office/officeart/2024/3/layout/hArchList1"/>
    <dgm:cxn modelId="{342B13B8-5276-4BD5-9B3E-AE2E8E4BFC0F}" type="presParOf" srcId="{F82C9BBC-BE50-4987-A820-77CDEA2BD2CA}" destId="{271FC143-B14A-42FC-B257-D3D6AFC7E048}" srcOrd="0" destOrd="0" presId="urn:microsoft.com/office/officeart/2024/3/layout/hArchList1"/>
    <dgm:cxn modelId="{796B3F57-0058-4A54-9117-6A0CC4BFF820}" type="presParOf" srcId="{F82C9BBC-BE50-4987-A820-77CDEA2BD2CA}" destId="{5C499D38-DDB1-44BC-8541-BA9980F03672}" srcOrd="1" destOrd="0" presId="urn:microsoft.com/office/officeart/2024/3/layout/hArchList1"/>
    <dgm:cxn modelId="{3B73A32F-133A-4456-89ED-500E50C161B5}" type="presParOf" srcId="{5962C667-3F59-45A2-A166-AD76548D0BEC}" destId="{A7131156-B773-42C7-9BC3-E86DA93B7508}" srcOrd="1" destOrd="0" presId="urn:microsoft.com/office/officeart/2024/3/layout/hArchList1"/>
    <dgm:cxn modelId="{A8A061A1-2E50-484D-9CBA-C4DAF3822934}" type="presParOf" srcId="{5962C667-3F59-45A2-A166-AD76548D0BEC}" destId="{63FE11B9-E8BE-4B20-9C71-E9C2DB9912BD}" srcOrd="2" destOrd="0" presId="urn:microsoft.com/office/officeart/2024/3/layout/hArchList1"/>
    <dgm:cxn modelId="{06282CCF-049C-4A84-A85C-4ADAD8848C9F}" type="presParOf" srcId="{63FE11B9-E8BE-4B20-9C71-E9C2DB9912BD}" destId="{452ED03F-0967-4BC1-A094-B5A56C325221}" srcOrd="0" destOrd="0" presId="urn:microsoft.com/office/officeart/2024/3/layout/hArchList1"/>
    <dgm:cxn modelId="{508E210F-984A-4A8F-ADE9-B3C4B9117F3C}" type="presParOf" srcId="{63FE11B9-E8BE-4B20-9C71-E9C2DB9912BD}" destId="{8389F536-4935-43FB-BD88-73CE14C224AC}" srcOrd="1" destOrd="0" presId="urn:microsoft.com/office/officeart/2024/3/layout/hArchList1"/>
    <dgm:cxn modelId="{A5748C00-CE70-431F-B022-B165BCBE8894}" type="presParOf" srcId="{5962C667-3F59-45A2-A166-AD76548D0BEC}" destId="{F929E6DA-58ED-4F3E-A015-15B24534D203}" srcOrd="3" destOrd="0" presId="urn:microsoft.com/office/officeart/2024/3/layout/hArchList1"/>
    <dgm:cxn modelId="{B59E4021-7AFC-43C2-ABC9-0F349BC28483}" type="presParOf" srcId="{5962C667-3F59-45A2-A166-AD76548D0BEC}" destId="{7C487E38-01E6-470F-8D1B-38C8F0615642}" srcOrd="4" destOrd="0" presId="urn:microsoft.com/office/officeart/2024/3/layout/hArchList1"/>
    <dgm:cxn modelId="{AF2ACB16-CA70-471E-8670-1ABC3E53F8F3}" type="presParOf" srcId="{7C487E38-01E6-470F-8D1B-38C8F0615642}" destId="{CE3FA724-A45A-46E0-9774-C3E4D94C3DA7}" srcOrd="0" destOrd="0" presId="urn:microsoft.com/office/officeart/2024/3/layout/hArchList1"/>
    <dgm:cxn modelId="{C05F1AB8-537D-4890-BF0E-5D382A25BD23}" type="presParOf" srcId="{7C487E38-01E6-470F-8D1B-38C8F0615642}" destId="{5A8B3E86-83E2-4EA6-A0D5-227B65CCD72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1FC143-B14A-42FC-B257-D3D6AFC7E048}">
      <dsp:nvSpPr>
        <dsp:cNvPr id="0" name=""/>
        <dsp:cNvSpPr/>
      </dsp:nvSpPr>
      <dsp:spPr>
        <a:xfrm>
          <a:off x="0" y="0"/>
          <a:ext cx="3403241" cy="62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Value of Detailed Analysis</a:t>
          </a:r>
        </a:p>
      </dsp:txBody>
      <dsp:txXfrm>
        <a:off x="0" y="0"/>
        <a:ext cx="3403241" cy="629779"/>
      </dsp:txXfrm>
    </dsp:sp>
    <dsp:sp modelId="{5C499D38-DDB1-44BC-8541-BA9980F03672}">
      <dsp:nvSpPr>
        <dsp:cNvPr id="0" name=""/>
        <dsp:cNvSpPr/>
      </dsp:nvSpPr>
      <dsp:spPr>
        <a:xfrm>
          <a:off x="0" y="629779"/>
          <a:ext cx="3403241" cy="2186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Thorough analysis of alcohol sales data reveals key insights that drive informed business decisions.</a:t>
          </a:r>
        </a:p>
      </dsp:txBody>
      <dsp:txXfrm>
        <a:off x="0" y="629779"/>
        <a:ext cx="3403241" cy="2186264"/>
      </dsp:txXfrm>
    </dsp:sp>
    <dsp:sp modelId="{452ED03F-0967-4BC1-A094-B5A56C325221}">
      <dsp:nvSpPr>
        <dsp:cNvPr id="0" name=""/>
        <dsp:cNvSpPr/>
      </dsp:nvSpPr>
      <dsp:spPr>
        <a:xfrm>
          <a:off x="3743566" y="0"/>
          <a:ext cx="3403241" cy="62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Strategic Decision Making</a:t>
          </a:r>
        </a:p>
      </dsp:txBody>
      <dsp:txXfrm>
        <a:off x="3743566" y="0"/>
        <a:ext cx="3403241" cy="629779"/>
      </dsp:txXfrm>
    </dsp:sp>
    <dsp:sp modelId="{8389F536-4935-43FB-BD88-73CE14C224AC}">
      <dsp:nvSpPr>
        <dsp:cNvPr id="0" name=""/>
        <dsp:cNvSpPr/>
      </dsp:nvSpPr>
      <dsp:spPr>
        <a:xfrm>
          <a:off x="3743566" y="629779"/>
          <a:ext cx="3403241" cy="2186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Insights from data support effective strategies that enhance growth and operational efficiency.</a:t>
          </a:r>
        </a:p>
      </dsp:txBody>
      <dsp:txXfrm>
        <a:off x="3743566" y="629779"/>
        <a:ext cx="3403241" cy="2186264"/>
      </dsp:txXfrm>
    </dsp:sp>
    <dsp:sp modelId="{CE3FA724-A45A-46E0-9774-C3E4D94C3DA7}">
      <dsp:nvSpPr>
        <dsp:cNvPr id="0" name=""/>
        <dsp:cNvSpPr/>
      </dsp:nvSpPr>
      <dsp:spPr>
        <a:xfrm>
          <a:off x="7487132" y="0"/>
          <a:ext cx="3403241" cy="62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Sustained Growth and Excellence</a:t>
          </a:r>
        </a:p>
      </dsp:txBody>
      <dsp:txXfrm>
        <a:off x="7487132" y="0"/>
        <a:ext cx="3403241" cy="629779"/>
      </dsp:txXfrm>
    </dsp:sp>
    <dsp:sp modelId="{5A8B3E86-83E2-4EA6-A0D5-227B65CCD727}">
      <dsp:nvSpPr>
        <dsp:cNvPr id="0" name=""/>
        <dsp:cNvSpPr/>
      </dsp:nvSpPr>
      <dsp:spPr>
        <a:xfrm>
          <a:off x="7487132" y="629779"/>
          <a:ext cx="3403241" cy="2186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Implementing recommendations fosters continuous growth and operational excellence over time.</a:t>
          </a:r>
        </a:p>
      </dsp:txBody>
      <dsp:txXfrm>
        <a:off x="7487132" y="629779"/>
        <a:ext cx="3403241" cy="2186264"/>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672090-69CB-4C3E-8529-F5047070054A}"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EF18AC-5579-49D5-933C-FA2BD4682358}" type="slidenum">
              <a:rPr lang="en-US" smtClean="0"/>
              <a:t>‹#›</a:t>
            </a:fld>
            <a:endParaRPr lang="en-US"/>
          </a:p>
        </p:txBody>
      </p:sp>
    </p:spTree>
    <p:extLst>
      <p:ext uri="{BB962C8B-B14F-4D97-AF65-F5344CB8AC3E}">
        <p14:creationId xmlns:p14="http://schemas.microsoft.com/office/powerpoint/2010/main" val="121874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provides an in-depth analysis of alcohol sales performance in both warehouse and retail sectors. We will explore key metrics, sales trends, customer behaviors, and strategic recommendations to optimize growth and efficiency.
</a:t>
            </a:r>
          </a:p>
        </p:txBody>
      </p:sp>
      <p:sp>
        <p:nvSpPr>
          <p:cNvPr id="4" name="Slide Number Placeholder 3"/>
          <p:cNvSpPr>
            <a:spLocks noGrp="1"/>
          </p:cNvSpPr>
          <p:nvPr>
            <p:ph type="sldNum" sz="quarter" idx="5"/>
          </p:nvPr>
        </p:nvSpPr>
        <p:spPr/>
        <p:txBody>
          <a:bodyPr/>
          <a:lstStyle/>
          <a:p>
            <a:fld id="{6E5A512E-1725-4F7B-9ED0-7EAC9DFC5664}" type="slidenum">
              <a:rPr lang="en-US" smtClean="0"/>
              <a:t>1</a:t>
            </a:fld>
            <a:endParaRPr lang="en-US"/>
          </a:p>
        </p:txBody>
      </p:sp>
    </p:spTree>
    <p:extLst>
      <p:ext uri="{BB962C8B-B14F-4D97-AF65-F5344CB8AC3E}">
        <p14:creationId xmlns:p14="http://schemas.microsoft.com/office/powerpoint/2010/main" val="4044147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agenda covers five main sections: an overview of alcohol sales performance, detailed analyses of warehouse and retail sales, comparative insights between the two segments, and strategic recommendations for future growth.</a:t>
            </a:r>
          </a:p>
        </p:txBody>
      </p:sp>
      <p:sp>
        <p:nvSpPr>
          <p:cNvPr id="4" name="Slide Number Placeholder 3"/>
          <p:cNvSpPr>
            <a:spLocks noGrp="1"/>
          </p:cNvSpPr>
          <p:nvPr>
            <p:ph type="sldNum" sz="quarter" idx="5"/>
          </p:nvPr>
        </p:nvSpPr>
        <p:spPr/>
        <p:txBody>
          <a:bodyPr/>
          <a:lstStyle/>
          <a:p>
            <a:fld id="{6E5A512E-1725-4F7B-9ED0-7EAC9DFC5664}" type="slidenum">
              <a:rPr lang="en-US" smtClean="0"/>
              <a:t>2</a:t>
            </a:fld>
            <a:endParaRPr lang="en-US"/>
          </a:p>
        </p:txBody>
      </p:sp>
    </p:spTree>
    <p:extLst>
      <p:ext uri="{BB962C8B-B14F-4D97-AF65-F5344CB8AC3E}">
        <p14:creationId xmlns:p14="http://schemas.microsoft.com/office/powerpoint/2010/main" val="289416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introduces the objectives of the sales report, defines key metrics for analysis, and explains the data sources and methodology used to ensure the accuracy and reliability of findings.</a:t>
            </a:r>
          </a:p>
        </p:txBody>
      </p:sp>
      <p:sp>
        <p:nvSpPr>
          <p:cNvPr id="4" name="Slide Number Placeholder 3"/>
          <p:cNvSpPr>
            <a:spLocks noGrp="1"/>
          </p:cNvSpPr>
          <p:nvPr>
            <p:ph type="sldNum" sz="quarter" idx="5"/>
          </p:nvPr>
        </p:nvSpPr>
        <p:spPr/>
        <p:txBody>
          <a:bodyPr/>
          <a:lstStyle/>
          <a:p>
            <a:fld id="{6E5A512E-1725-4F7B-9ED0-7EAC9DFC5664}" type="slidenum">
              <a:rPr lang="en-US" smtClean="0"/>
              <a:t>3</a:t>
            </a:fld>
            <a:endParaRPr lang="en-US"/>
          </a:p>
        </p:txBody>
      </p:sp>
    </p:spTree>
    <p:extLst>
      <p:ext uri="{BB962C8B-B14F-4D97-AF65-F5344CB8AC3E}">
        <p14:creationId xmlns:p14="http://schemas.microsoft.com/office/powerpoint/2010/main" val="1715863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objectives include understanding sales trends, identifying high-performing products, evaluating inventory management, and supporting informed decision-making for both warehouse and retail channels.</a:t>
            </a:r>
          </a:p>
        </p:txBody>
      </p:sp>
      <p:sp>
        <p:nvSpPr>
          <p:cNvPr id="4" name="Slide Number Placeholder 3"/>
          <p:cNvSpPr>
            <a:spLocks noGrp="1"/>
          </p:cNvSpPr>
          <p:nvPr>
            <p:ph type="sldNum" sz="quarter" idx="5"/>
          </p:nvPr>
        </p:nvSpPr>
        <p:spPr/>
        <p:txBody>
          <a:bodyPr/>
          <a:lstStyle/>
          <a:p>
            <a:fld id="{6E5A512E-1725-4F7B-9ED0-7EAC9DFC5664}" type="slidenum">
              <a:rPr lang="en-US" smtClean="0"/>
              <a:t>4</a:t>
            </a:fld>
            <a:endParaRPr lang="en-US"/>
          </a:p>
        </p:txBody>
      </p:sp>
    </p:spTree>
    <p:extLst>
      <p:ext uri="{BB962C8B-B14F-4D97-AF65-F5344CB8AC3E}">
        <p14:creationId xmlns:p14="http://schemas.microsoft.com/office/powerpoint/2010/main" val="74475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clarify the essential metrics such as sales volume, revenue, inventory turnover, customer demographics, and promotional impact to provide a clear framework for the analysis.</a:t>
            </a:r>
          </a:p>
        </p:txBody>
      </p:sp>
      <p:sp>
        <p:nvSpPr>
          <p:cNvPr id="4" name="Slide Number Placeholder 3"/>
          <p:cNvSpPr>
            <a:spLocks noGrp="1"/>
          </p:cNvSpPr>
          <p:nvPr>
            <p:ph type="sldNum" sz="quarter" idx="5"/>
          </p:nvPr>
        </p:nvSpPr>
        <p:spPr/>
        <p:txBody>
          <a:bodyPr/>
          <a:lstStyle/>
          <a:p>
            <a:fld id="{6E5A512E-1725-4F7B-9ED0-7EAC9DFC5664}" type="slidenum">
              <a:rPr lang="en-US" smtClean="0"/>
              <a:t>5</a:t>
            </a:fld>
            <a:endParaRPr lang="en-US"/>
          </a:p>
        </p:txBody>
      </p:sp>
    </p:spTree>
    <p:extLst>
      <p:ext uri="{BB962C8B-B14F-4D97-AF65-F5344CB8AC3E}">
        <p14:creationId xmlns:p14="http://schemas.microsoft.com/office/powerpoint/2010/main" val="3396770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report is based on sales records, inventory data, customer purchase information, and market research. We employ quantitative analysis and comparative methods to ensure robust insights.</a:t>
            </a:r>
          </a:p>
        </p:txBody>
      </p:sp>
      <p:sp>
        <p:nvSpPr>
          <p:cNvPr id="4" name="Slide Number Placeholder 3"/>
          <p:cNvSpPr>
            <a:spLocks noGrp="1"/>
          </p:cNvSpPr>
          <p:nvPr>
            <p:ph type="sldNum" sz="quarter" idx="5"/>
          </p:nvPr>
        </p:nvSpPr>
        <p:spPr/>
        <p:txBody>
          <a:bodyPr/>
          <a:lstStyle/>
          <a:p>
            <a:fld id="{6E5A512E-1725-4F7B-9ED0-7EAC9DFC5664}" type="slidenum">
              <a:rPr lang="en-US" smtClean="0"/>
              <a:t>6</a:t>
            </a:fld>
            <a:endParaRPr lang="en-US"/>
          </a:p>
        </p:txBody>
      </p:sp>
    </p:spTree>
    <p:extLst>
      <p:ext uri="{BB962C8B-B14F-4D97-AF65-F5344CB8AC3E}">
        <p14:creationId xmlns:p14="http://schemas.microsoft.com/office/powerpoint/2010/main" val="393291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examines the warehouse segment's sales volume and revenue trends, identifies top-performing product categories, and reviews inventory turnover alongside current stock levels.</a:t>
            </a:r>
          </a:p>
        </p:txBody>
      </p:sp>
      <p:sp>
        <p:nvSpPr>
          <p:cNvPr id="4" name="Slide Number Placeholder 3"/>
          <p:cNvSpPr>
            <a:spLocks noGrp="1"/>
          </p:cNvSpPr>
          <p:nvPr>
            <p:ph type="sldNum" sz="quarter" idx="5"/>
          </p:nvPr>
        </p:nvSpPr>
        <p:spPr/>
        <p:txBody>
          <a:bodyPr/>
          <a:lstStyle/>
          <a:p>
            <a:fld id="{6E5A512E-1725-4F7B-9ED0-7EAC9DFC5664}" type="slidenum">
              <a:rPr lang="en-US" smtClean="0"/>
              <a:t>7</a:t>
            </a:fld>
            <a:endParaRPr lang="en-US"/>
          </a:p>
        </p:txBody>
      </p:sp>
    </p:spTree>
    <p:extLst>
      <p:ext uri="{BB962C8B-B14F-4D97-AF65-F5344CB8AC3E}">
        <p14:creationId xmlns:p14="http://schemas.microsoft.com/office/powerpoint/2010/main" val="1179712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explores sales volume and revenue trends within retail, customer purchasing patterns and demographics, as well as the effects of promotions and seasonal variations.</a:t>
            </a:r>
          </a:p>
        </p:txBody>
      </p:sp>
      <p:sp>
        <p:nvSpPr>
          <p:cNvPr id="4" name="Slide Number Placeholder 3"/>
          <p:cNvSpPr>
            <a:spLocks noGrp="1"/>
          </p:cNvSpPr>
          <p:nvPr>
            <p:ph type="sldNum" sz="quarter" idx="5"/>
          </p:nvPr>
        </p:nvSpPr>
        <p:spPr/>
        <p:txBody>
          <a:bodyPr/>
          <a:lstStyle/>
          <a:p>
            <a:fld id="{6E5A512E-1725-4F7B-9ED0-7EAC9DFC5664}" type="slidenum">
              <a:rPr lang="en-US" smtClean="0"/>
              <a:t>9</a:t>
            </a:fld>
            <a:endParaRPr lang="en-US"/>
          </a:p>
        </p:txBody>
      </p:sp>
    </p:spTree>
    <p:extLst>
      <p:ext uri="{BB962C8B-B14F-4D97-AF65-F5344CB8AC3E}">
        <p14:creationId xmlns:p14="http://schemas.microsoft.com/office/powerpoint/2010/main" val="3684032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overview of retail sales data reveals consumer demand fluctuations and revenue changes, providing insight into retail segment performance.</a:t>
            </a:r>
          </a:p>
        </p:txBody>
      </p:sp>
      <p:sp>
        <p:nvSpPr>
          <p:cNvPr id="4" name="Slide Number Placeholder 3"/>
          <p:cNvSpPr>
            <a:spLocks noGrp="1"/>
          </p:cNvSpPr>
          <p:nvPr>
            <p:ph type="sldNum" sz="quarter" idx="5"/>
          </p:nvPr>
        </p:nvSpPr>
        <p:spPr/>
        <p:txBody>
          <a:bodyPr/>
          <a:lstStyle/>
          <a:p>
            <a:fld id="{6E5A512E-1725-4F7B-9ED0-7EAC9DFC5664}" type="slidenum">
              <a:rPr lang="en-US" smtClean="0"/>
              <a:t>10</a:t>
            </a:fld>
            <a:endParaRPr lang="en-US"/>
          </a:p>
        </p:txBody>
      </p:sp>
    </p:spTree>
    <p:extLst>
      <p:ext uri="{BB962C8B-B14F-4D97-AF65-F5344CB8AC3E}">
        <p14:creationId xmlns:p14="http://schemas.microsoft.com/office/powerpoint/2010/main" val="32324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section, we compare sales performance and distribution efficiency between warehouse and retail channels, identifying strengths and areas for improvement.</a:t>
            </a:r>
          </a:p>
        </p:txBody>
      </p:sp>
      <p:sp>
        <p:nvSpPr>
          <p:cNvPr id="4" name="Slide Number Placeholder 3"/>
          <p:cNvSpPr>
            <a:spLocks noGrp="1"/>
          </p:cNvSpPr>
          <p:nvPr>
            <p:ph type="sldNum" sz="quarter" idx="5"/>
          </p:nvPr>
        </p:nvSpPr>
        <p:spPr/>
        <p:txBody>
          <a:bodyPr/>
          <a:lstStyle/>
          <a:p>
            <a:fld id="{6E5A512E-1725-4F7B-9ED0-7EAC9DFC5664}" type="slidenum">
              <a:rPr lang="en-US" smtClean="0"/>
              <a:t>11</a:t>
            </a:fld>
            <a:endParaRPr lang="en-US"/>
          </a:p>
        </p:txBody>
      </p:sp>
    </p:spTree>
    <p:extLst>
      <p:ext uri="{BB962C8B-B14F-4D97-AF65-F5344CB8AC3E}">
        <p14:creationId xmlns:p14="http://schemas.microsoft.com/office/powerpoint/2010/main" val="1023185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contrast sales volumes, revenues, and growth trends in the warehouse and retail sectors to understand their relative contributions to overall business success.</a:t>
            </a:r>
          </a:p>
        </p:txBody>
      </p:sp>
      <p:sp>
        <p:nvSpPr>
          <p:cNvPr id="4" name="Slide Number Placeholder 3"/>
          <p:cNvSpPr>
            <a:spLocks noGrp="1"/>
          </p:cNvSpPr>
          <p:nvPr>
            <p:ph type="sldNum" sz="quarter" idx="5"/>
          </p:nvPr>
        </p:nvSpPr>
        <p:spPr/>
        <p:txBody>
          <a:bodyPr/>
          <a:lstStyle/>
          <a:p>
            <a:fld id="{6E5A512E-1725-4F7B-9ED0-7EAC9DFC5664}" type="slidenum">
              <a:rPr lang="en-US" smtClean="0"/>
              <a:t>12</a:t>
            </a:fld>
            <a:endParaRPr lang="en-US"/>
          </a:p>
        </p:txBody>
      </p:sp>
    </p:spTree>
    <p:extLst>
      <p:ext uri="{BB962C8B-B14F-4D97-AF65-F5344CB8AC3E}">
        <p14:creationId xmlns:p14="http://schemas.microsoft.com/office/powerpoint/2010/main" val="2453273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reviews how effectively products move through warehouse and retail channels, spotlighting logistics, supply chain management, and potential inefficiencies.</a:t>
            </a:r>
          </a:p>
        </p:txBody>
      </p:sp>
      <p:sp>
        <p:nvSpPr>
          <p:cNvPr id="4" name="Slide Number Placeholder 3"/>
          <p:cNvSpPr>
            <a:spLocks noGrp="1"/>
          </p:cNvSpPr>
          <p:nvPr>
            <p:ph type="sldNum" sz="quarter" idx="5"/>
          </p:nvPr>
        </p:nvSpPr>
        <p:spPr/>
        <p:txBody>
          <a:bodyPr/>
          <a:lstStyle/>
          <a:p>
            <a:fld id="{6E5A512E-1725-4F7B-9ED0-7EAC9DFC5664}" type="slidenum">
              <a:rPr lang="en-US" smtClean="0"/>
              <a:t>13</a:t>
            </a:fld>
            <a:endParaRPr lang="en-US"/>
          </a:p>
        </p:txBody>
      </p:sp>
    </p:spTree>
    <p:extLst>
      <p:ext uri="{BB962C8B-B14F-4D97-AF65-F5344CB8AC3E}">
        <p14:creationId xmlns:p14="http://schemas.microsoft.com/office/powerpoint/2010/main" val="3735513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comparative insights, we suggest actionable strategies to enhance sales, inventory management, and customer engagement across both segments.</a:t>
            </a:r>
          </a:p>
        </p:txBody>
      </p:sp>
      <p:sp>
        <p:nvSpPr>
          <p:cNvPr id="4" name="Slide Number Placeholder 3"/>
          <p:cNvSpPr>
            <a:spLocks noGrp="1"/>
          </p:cNvSpPr>
          <p:nvPr>
            <p:ph type="sldNum" sz="quarter" idx="5"/>
          </p:nvPr>
        </p:nvSpPr>
        <p:spPr/>
        <p:txBody>
          <a:bodyPr/>
          <a:lstStyle/>
          <a:p>
            <a:fld id="{6E5A512E-1725-4F7B-9ED0-7EAC9DFC5664}" type="slidenum">
              <a:rPr lang="en-US" smtClean="0"/>
              <a:t>14</a:t>
            </a:fld>
            <a:endParaRPr lang="en-US"/>
          </a:p>
        </p:txBody>
      </p:sp>
    </p:spTree>
    <p:extLst>
      <p:ext uri="{BB962C8B-B14F-4D97-AF65-F5344CB8AC3E}">
        <p14:creationId xmlns:p14="http://schemas.microsoft.com/office/powerpoint/2010/main" val="2282246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final section outlines growth opportunities, potential challenges, and market trends to position the business advantageously in the evolving alcohol sales market.</a:t>
            </a:r>
          </a:p>
        </p:txBody>
      </p:sp>
      <p:sp>
        <p:nvSpPr>
          <p:cNvPr id="4" name="Slide Number Placeholder 3"/>
          <p:cNvSpPr>
            <a:spLocks noGrp="1"/>
          </p:cNvSpPr>
          <p:nvPr>
            <p:ph type="sldNum" sz="quarter" idx="5"/>
          </p:nvPr>
        </p:nvSpPr>
        <p:spPr/>
        <p:txBody>
          <a:bodyPr/>
          <a:lstStyle/>
          <a:p>
            <a:fld id="{6E5A512E-1725-4F7B-9ED0-7EAC9DFC5664}" type="slidenum">
              <a:rPr lang="en-US" smtClean="0"/>
              <a:t>15</a:t>
            </a:fld>
            <a:endParaRPr lang="en-US"/>
          </a:p>
        </p:txBody>
      </p:sp>
    </p:spTree>
    <p:extLst>
      <p:ext uri="{BB962C8B-B14F-4D97-AF65-F5344CB8AC3E}">
        <p14:creationId xmlns:p14="http://schemas.microsoft.com/office/powerpoint/2010/main" val="4186680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identify areas such as product diversification, digital sales channels, and customer experience enhancements that can drive growth in warehouse and retail areas.</a:t>
            </a:r>
          </a:p>
        </p:txBody>
      </p:sp>
      <p:sp>
        <p:nvSpPr>
          <p:cNvPr id="4" name="Slide Number Placeholder 3"/>
          <p:cNvSpPr>
            <a:spLocks noGrp="1"/>
          </p:cNvSpPr>
          <p:nvPr>
            <p:ph type="sldNum" sz="quarter" idx="5"/>
          </p:nvPr>
        </p:nvSpPr>
        <p:spPr/>
        <p:txBody>
          <a:bodyPr/>
          <a:lstStyle/>
          <a:p>
            <a:fld id="{6E5A512E-1725-4F7B-9ED0-7EAC9DFC5664}" type="slidenum">
              <a:rPr lang="en-US" smtClean="0"/>
              <a:t>16</a:t>
            </a:fld>
            <a:endParaRPr lang="en-US"/>
          </a:p>
        </p:txBody>
      </p:sp>
    </p:spTree>
    <p:extLst>
      <p:ext uri="{BB962C8B-B14F-4D97-AF65-F5344CB8AC3E}">
        <p14:creationId xmlns:p14="http://schemas.microsoft.com/office/powerpoint/2010/main" val="1655857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Through detailed analysis of warehouse and retail alcohol sales, we gain valuable insights to inform strategic decisions. Implementing these recommendations will support sustained growth and operational excellence.</a:t>
            </a:r>
          </a:p>
        </p:txBody>
      </p:sp>
      <p:sp>
        <p:nvSpPr>
          <p:cNvPr id="4" name="Slide Number Placeholder 3"/>
          <p:cNvSpPr>
            <a:spLocks noGrp="1"/>
          </p:cNvSpPr>
          <p:nvPr>
            <p:ph type="sldNum" sz="quarter" idx="5"/>
          </p:nvPr>
        </p:nvSpPr>
        <p:spPr/>
        <p:txBody>
          <a:bodyPr/>
          <a:lstStyle/>
          <a:p>
            <a:fld id="{6E5A512E-1725-4F7B-9ED0-7EAC9DFC5664}" type="slidenum">
              <a:rPr lang="en-US" smtClean="0"/>
              <a:t>17</a:t>
            </a:fld>
            <a:endParaRPr lang="en-US"/>
          </a:p>
        </p:txBody>
      </p:sp>
    </p:spTree>
    <p:extLst>
      <p:ext uri="{BB962C8B-B14F-4D97-AF65-F5344CB8AC3E}">
        <p14:creationId xmlns:p14="http://schemas.microsoft.com/office/powerpoint/2010/main" val="1044132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29832794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11/19/2025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12225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11/19/2025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45626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764072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092225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394947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233237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328862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11/19/2025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510040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1060271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5719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74833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61192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24466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8201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9731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2919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09887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24616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4607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127503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604453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96398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47362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20549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260229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439866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64460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67881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84849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154134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15422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6677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11/19/2025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88671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11/19/2025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74068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11/19/2025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536571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11/19/2025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47995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11/19/2025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05521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11/19/2025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04728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11/19/2025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2668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11/19/2025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91160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0732060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11/19/2025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727101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11/19/2025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498779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11/19/2025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876656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11/19/2025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672521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11/19/2025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2612753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4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A47C-177A-86BB-B6C6-15067A92B897}"/>
              </a:ext>
            </a:extLst>
          </p:cNvPr>
          <p:cNvSpPr>
            <a:spLocks noGrp="1"/>
          </p:cNvSpPr>
          <p:nvPr>
            <p:ph type="ctrTitle"/>
          </p:nvPr>
        </p:nvSpPr>
        <p:spPr>
          <a:xfrm>
            <a:off x="431172" y="1088571"/>
            <a:ext cx="7685140" cy="2144486"/>
          </a:xfrm>
        </p:spPr>
        <p:txBody>
          <a:bodyPr anchor="b">
            <a:normAutofit/>
          </a:bodyPr>
          <a:lstStyle/>
          <a:p>
            <a:r>
              <a:rPr lang="en-US" sz="4000" dirty="0"/>
              <a:t>Warehouse and Retail Alcohol Sales report and analysis</a:t>
            </a:r>
          </a:p>
        </p:txBody>
      </p:sp>
      <p:sp>
        <p:nvSpPr>
          <p:cNvPr id="3" name="Subtitle 2">
            <a:extLst>
              <a:ext uri="{FF2B5EF4-FFF2-40B4-BE49-F238E27FC236}">
                <a16:creationId xmlns:a16="http://schemas.microsoft.com/office/drawing/2014/main" id="{2AEB663D-FE86-5CDB-2747-D09858E5C457}"/>
              </a:ext>
            </a:extLst>
          </p:cNvPr>
          <p:cNvSpPr>
            <a:spLocks noGrp="1"/>
          </p:cNvSpPr>
          <p:nvPr>
            <p:ph type="subTitle" idx="1"/>
          </p:nvPr>
        </p:nvSpPr>
        <p:spPr>
          <a:xfrm>
            <a:off x="431172" y="415057"/>
            <a:ext cx="7685139" cy="1414091"/>
          </a:xfrm>
        </p:spPr>
        <p:txBody>
          <a:bodyPr>
            <a:normAutofit/>
          </a:bodyPr>
          <a:lstStyle/>
          <a:p>
            <a:r>
              <a:rPr lang="en-US"/>
              <a:t>Detailed insights into sales trends and performance metrics</a:t>
            </a:r>
          </a:p>
        </p:txBody>
      </p:sp>
      <p:sp>
        <p:nvSpPr>
          <p:cNvPr id="4" name="Date Placeholder 3">
            <a:extLst>
              <a:ext uri="{FF2B5EF4-FFF2-40B4-BE49-F238E27FC236}">
                <a16:creationId xmlns:a16="http://schemas.microsoft.com/office/drawing/2014/main" id="{CB02FABF-7348-47EF-4360-FB061BCDA2FD}"/>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FE0D4FA6-320B-0BDD-2641-D0960DB26340}"/>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AC1A9190-2498-7D04-B992-34F52BDD021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
        <p:nvSpPr>
          <p:cNvPr id="7" name="TextBox 6">
            <a:extLst>
              <a:ext uri="{FF2B5EF4-FFF2-40B4-BE49-F238E27FC236}">
                <a16:creationId xmlns:a16="http://schemas.microsoft.com/office/drawing/2014/main" id="{F00539EF-4E7D-8EC5-2961-FE57A0591DC2}"/>
              </a:ext>
            </a:extLst>
          </p:cNvPr>
          <p:cNvSpPr txBox="1"/>
          <p:nvPr/>
        </p:nvSpPr>
        <p:spPr>
          <a:xfrm>
            <a:off x="3951514" y="4376057"/>
            <a:ext cx="7424057" cy="369332"/>
          </a:xfrm>
          <a:prstGeom prst="rect">
            <a:avLst/>
          </a:prstGeom>
          <a:noFill/>
        </p:spPr>
        <p:txBody>
          <a:bodyPr wrap="square" rtlCol="0">
            <a:spAutoFit/>
          </a:bodyPr>
          <a:lstStyle/>
          <a:p>
            <a:r>
              <a:rPr lang="en-US" dirty="0"/>
              <a:t>By Eric Buikema</a:t>
            </a:r>
          </a:p>
        </p:txBody>
      </p:sp>
    </p:spTree>
    <p:extLst>
      <p:ext uri="{BB962C8B-B14F-4D97-AF65-F5344CB8AC3E}">
        <p14:creationId xmlns:p14="http://schemas.microsoft.com/office/powerpoint/2010/main" val="124831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5580-9185-5099-2BAC-2052A3987A38}"/>
              </a:ext>
            </a:extLst>
          </p:cNvPr>
          <p:cNvSpPr>
            <a:spLocks noGrp="1"/>
          </p:cNvSpPr>
          <p:nvPr>
            <p:ph type="title"/>
          </p:nvPr>
        </p:nvSpPr>
        <p:spPr>
          <a:xfrm>
            <a:off x="429768" y="411480"/>
            <a:ext cx="11045952" cy="1828800"/>
          </a:xfrm>
        </p:spPr>
        <p:txBody>
          <a:bodyPr anchor="t">
            <a:normAutofit/>
          </a:bodyPr>
          <a:lstStyle/>
          <a:p>
            <a:r>
              <a:rPr lang="en-US"/>
              <a:t>Key Focus Areas</a:t>
            </a:r>
          </a:p>
        </p:txBody>
      </p:sp>
      <p:sp>
        <p:nvSpPr>
          <p:cNvPr id="3" name="Content Placeholder 2">
            <a:extLst>
              <a:ext uri="{FF2B5EF4-FFF2-40B4-BE49-F238E27FC236}">
                <a16:creationId xmlns:a16="http://schemas.microsoft.com/office/drawing/2014/main" id="{7022FB36-82A1-757B-D2D2-1455E8AAA2C9}"/>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272784" y="2423160"/>
            <a:ext cx="5202936" cy="3858768"/>
          </a:xfrm>
        </p:spPr>
        <p:txBody>
          <a:bodyPr>
            <a:normAutofit/>
          </a:bodyPr>
          <a:lstStyle/>
          <a:p>
            <a:pPr>
              <a:buFont typeface="Arial" panose="020B0604020202020204" pitchFamily="34" charset="0"/>
              <a:buChar char="•"/>
            </a:pPr>
            <a:r>
              <a:t>Overview of Alcohol Sales Performance</a:t>
            </a:r>
          </a:p>
          <a:p>
            <a:pPr>
              <a:buFont typeface="Arial" panose="020B0604020202020204" pitchFamily="34" charset="0"/>
              <a:buChar char="•"/>
            </a:pPr>
            <a:r>
              <a:t>Warehouse Alcohol Sales Analysis</a:t>
            </a:r>
          </a:p>
          <a:p>
            <a:pPr>
              <a:buFont typeface="Arial" panose="020B0604020202020204" pitchFamily="34" charset="0"/>
              <a:buChar char="•"/>
            </a:pPr>
            <a:r>
              <a:t>Retail Alcohol Sales Analysis</a:t>
            </a:r>
          </a:p>
          <a:p>
            <a:pPr>
              <a:buFont typeface="Arial" panose="020B0604020202020204" pitchFamily="34" charset="0"/>
              <a:buChar char="•"/>
            </a:pPr>
            <a:r>
              <a:t>Comparative Insights: Warehouse Vs. Retail</a:t>
            </a:r>
          </a:p>
          <a:p>
            <a:pPr>
              <a:buFont typeface="Arial" panose="020B0604020202020204" pitchFamily="34" charset="0"/>
              <a:buChar char="•"/>
            </a:pPr>
            <a:r>
              <a:t>Strategic Recommendations and Future Outlook</a:t>
            </a:r>
            <a:endParaRPr lang="en-US"/>
          </a:p>
        </p:txBody>
      </p:sp>
      <p:sp>
        <p:nvSpPr>
          <p:cNvPr id="4" name="Date Placeholder 3">
            <a:extLst>
              <a:ext uri="{FF2B5EF4-FFF2-40B4-BE49-F238E27FC236}">
                <a16:creationId xmlns:a16="http://schemas.microsoft.com/office/drawing/2014/main" id="{6CCD4B4E-B04D-1875-08E4-6BC9F2289AC2}"/>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0DA9901B-4BA9-292F-82CF-108B4D2833D7}"/>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A452C5E5-98E1-DD6E-58BE-C08ABE8E241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a:t>
            </a:fld>
            <a:endParaRPr lang="en-US"/>
          </a:p>
        </p:txBody>
      </p:sp>
    </p:spTree>
    <p:extLst>
      <p:ext uri="{BB962C8B-B14F-4D97-AF65-F5344CB8AC3E}">
        <p14:creationId xmlns:p14="http://schemas.microsoft.com/office/powerpoint/2010/main" val="1836318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53E16-7AF6-2B9F-DB04-664CCBF1CFBA}"/>
              </a:ext>
            </a:extLst>
          </p:cNvPr>
          <p:cNvSpPr>
            <a:spLocks noGrp="1"/>
          </p:cNvSpPr>
          <p:nvPr>
            <p:ph type="title"/>
          </p:nvPr>
        </p:nvSpPr>
        <p:spPr>
          <a:xfrm>
            <a:off x="431172" y="553616"/>
            <a:ext cx="7914087" cy="4008859"/>
          </a:xfrm>
        </p:spPr>
        <p:txBody>
          <a:bodyPr anchor="t">
            <a:normAutofit/>
          </a:bodyPr>
          <a:lstStyle/>
          <a:p>
            <a:r>
              <a:rPr lang="en-US"/>
              <a:t>Overview of Alcohol Sales Performance</a:t>
            </a:r>
          </a:p>
        </p:txBody>
      </p:sp>
      <p:sp>
        <p:nvSpPr>
          <p:cNvPr id="11" name="Text Placeholder 2">
            <a:extLst>
              <a:ext uri="{FF2B5EF4-FFF2-40B4-BE49-F238E27FC236}">
                <a16:creationId xmlns:a16="http://schemas.microsoft.com/office/drawing/2014/main" id="{81CB8201-5D57-31B9-B12F-AA5970FFC9A3}"/>
              </a:ext>
            </a:extLst>
          </p:cNvPr>
          <p:cNvSpPr>
            <a:spLocks noGrp="1"/>
          </p:cNvSpPr>
          <p:nvPr>
            <p:ph type="body" idx="1"/>
          </p:nvPr>
        </p:nvSpPr>
        <p:spPr>
          <a:xfrm>
            <a:off x="431172" y="3603171"/>
            <a:ext cx="7914087" cy="2651633"/>
          </a:xfrm>
        </p:spPr>
        <p:txBody>
          <a:bodyPr/>
          <a:lstStyle/>
          <a:p>
            <a:r>
              <a:rPr lang="en-US" dirty="0"/>
              <a:t>In order to assess the findings, and generate a compelling analysis and sales report, multiple different sources was used.  Excel was used to clean up an organize the data, organizing sections into pivot tables. MySQL for analyzing deeper trends and top performers. Power BI for the report and functional dashboard.</a:t>
            </a:r>
          </a:p>
        </p:txBody>
      </p:sp>
      <p:sp>
        <p:nvSpPr>
          <p:cNvPr id="4" name="Date Placeholder 3">
            <a:extLst>
              <a:ext uri="{FF2B5EF4-FFF2-40B4-BE49-F238E27FC236}">
                <a16:creationId xmlns:a16="http://schemas.microsoft.com/office/drawing/2014/main" id="{D8C47F2B-3758-52D4-BA97-815768BF52FE}"/>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94635F90-8D28-7B16-BA0A-A3BFB9A0506F}"/>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0ED2D1EB-0675-AC40-FF3A-269CC4CCF5A4}"/>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a:t>
            </a:fld>
            <a:endParaRPr lang="en-US"/>
          </a:p>
        </p:txBody>
      </p:sp>
    </p:spTree>
    <p:extLst>
      <p:ext uri="{BB962C8B-B14F-4D97-AF65-F5344CB8AC3E}">
        <p14:creationId xmlns:p14="http://schemas.microsoft.com/office/powerpoint/2010/main" val="381475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6EBD3-5B6F-DCEB-A1C1-1B73C13B2081}"/>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b="0" kern="1200" cap="all" baseline="0">
                <a:latin typeface="+mj-lt"/>
                <a:ea typeface="+mj-ea"/>
                <a:cs typeface="+mj-cs"/>
              </a:rPr>
              <a:t>Objectives of the Sales Report</a:t>
            </a:r>
          </a:p>
        </p:txBody>
      </p:sp>
      <p:pic>
        <p:nvPicPr>
          <p:cNvPr id="7" name="Content Placeholder 6" descr="Chalk board">
            <a:extLst>
              <a:ext uri="{FF2B5EF4-FFF2-40B4-BE49-F238E27FC236}">
                <a16:creationId xmlns:a16="http://schemas.microsoft.com/office/drawing/2014/main" id="{CCD874F5-FC7A-4B5A-90F1-0687272F70C1}"/>
              </a:ext>
            </a:extLst>
          </p:cNvPr>
          <p:cNvPicPr>
            <a:picLocks noGrp="1" noChangeAspect="1"/>
          </p:cNvPicPr>
          <p:nvPr>
            <p:ph type="pic" sz="quarter" idx="15"/>
          </p:nvPr>
        </p:nvPicPr>
        <p:blipFill>
          <a:blip r:embed="rId3"/>
          <a:srcRect l="7896" r="7001" b="3"/>
          <a:stretch>
            <a:fillRect/>
          </a:stretch>
        </p:blipFill>
        <p:spPr>
          <a:xfrm>
            <a:off x="20" y="2293496"/>
            <a:ext cx="5285212" cy="4564504"/>
          </a:xfrm>
          <a:prstGeom prst="rect">
            <a:avLst/>
          </a:prstGeom>
          <a:noFill/>
        </p:spPr>
      </p:pic>
      <p:sp>
        <p:nvSpPr>
          <p:cNvPr id="8" name="TextBox 7">
            <a:extLst>
              <a:ext uri="{FF2B5EF4-FFF2-40B4-BE49-F238E27FC236}">
                <a16:creationId xmlns:a16="http://schemas.microsoft.com/office/drawing/2014/main" id="{B359A9E9-56D3-4F38-AAFB-982150FD0D6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Understanding Sales Trends</a:t>
            </a:r>
          </a:p>
          <a:p>
            <a:pPr marL="0" lvl="1" indent="0">
              <a:spcBef>
                <a:spcPts val="1000"/>
              </a:spcBef>
              <a:spcAft>
                <a:spcPts val="600"/>
              </a:spcAft>
              <a:buFont typeface="Arial" panose="020B0604020202020204" pitchFamily="34" charset="0"/>
              <a:buNone/>
            </a:pPr>
            <a:r>
              <a:rPr lang="en-US" sz="1400"/>
              <a:t>Analyze sales data to recognize patterns and shifts over time for better forecasting.</a:t>
            </a:r>
          </a:p>
          <a:p>
            <a:pPr marL="0" indent="0">
              <a:spcBef>
                <a:spcPts val="2500"/>
              </a:spcBef>
              <a:spcAft>
                <a:spcPts val="600"/>
              </a:spcAft>
              <a:buFont typeface="Arial" panose="020B0604020202020204" pitchFamily="34" charset="0"/>
              <a:buNone/>
            </a:pPr>
            <a:r>
              <a:rPr lang="en-US" sz="1400" b="1"/>
              <a:t>Identifying Top Products</a:t>
            </a:r>
          </a:p>
          <a:p>
            <a:pPr marL="0" lvl="1" indent="0">
              <a:spcBef>
                <a:spcPts val="1000"/>
              </a:spcBef>
              <a:spcAft>
                <a:spcPts val="600"/>
              </a:spcAft>
              <a:buFont typeface="Arial" panose="020B0604020202020204" pitchFamily="34" charset="0"/>
              <a:buNone/>
            </a:pPr>
            <a:r>
              <a:rPr lang="en-US" sz="1400"/>
              <a:t>Determine highest performing products to focus marketing and inventory efforts strategically.</a:t>
            </a:r>
          </a:p>
          <a:p>
            <a:pPr marL="0" indent="0">
              <a:spcBef>
                <a:spcPts val="2500"/>
              </a:spcBef>
              <a:spcAft>
                <a:spcPts val="600"/>
              </a:spcAft>
              <a:buFont typeface="Arial" panose="020B0604020202020204" pitchFamily="34" charset="0"/>
              <a:buNone/>
            </a:pPr>
            <a:r>
              <a:rPr lang="en-US" sz="1400" b="1"/>
              <a:t>Evaluating Inventory Management</a:t>
            </a:r>
          </a:p>
          <a:p>
            <a:pPr marL="0" lvl="1" indent="0">
              <a:spcBef>
                <a:spcPts val="1000"/>
              </a:spcBef>
              <a:spcAft>
                <a:spcPts val="600"/>
              </a:spcAft>
              <a:buFont typeface="Arial" panose="020B0604020202020204" pitchFamily="34" charset="0"/>
              <a:buNone/>
            </a:pPr>
            <a:r>
              <a:rPr lang="en-US" sz="1400"/>
              <a:t>Assess inventory levels and turnover rates to optimize stock and reduce waste.</a:t>
            </a:r>
          </a:p>
          <a:p>
            <a:pPr marL="0" indent="0">
              <a:spcBef>
                <a:spcPts val="2500"/>
              </a:spcBef>
              <a:spcAft>
                <a:spcPts val="600"/>
              </a:spcAft>
              <a:buFont typeface="Arial" panose="020B0604020202020204" pitchFamily="34" charset="0"/>
              <a:buNone/>
            </a:pPr>
            <a:r>
              <a:rPr lang="en-US" sz="1400" b="1"/>
              <a:t>Supporting Decision-Making</a:t>
            </a:r>
          </a:p>
          <a:p>
            <a:pPr marL="0" lvl="1" indent="0">
              <a:spcBef>
                <a:spcPts val="1000"/>
              </a:spcBef>
              <a:spcAft>
                <a:spcPts val="600"/>
              </a:spcAft>
              <a:buFont typeface="Arial" panose="020B0604020202020204" pitchFamily="34" charset="0"/>
              <a:buNone/>
            </a:pPr>
            <a:r>
              <a:rPr lang="en-US" sz="1400"/>
              <a:t>Provide actionable insights to improve decisions for warehouse and retail channel operations.</a:t>
            </a:r>
          </a:p>
        </p:txBody>
      </p:sp>
      <p:sp>
        <p:nvSpPr>
          <p:cNvPr id="4" name="Date Placeholder 3">
            <a:extLst>
              <a:ext uri="{FF2B5EF4-FFF2-40B4-BE49-F238E27FC236}">
                <a16:creationId xmlns:a16="http://schemas.microsoft.com/office/drawing/2014/main" id="{D80DC81F-75DE-C7EA-65A4-DFE42094070B}"/>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42F0C7B7-92FA-5621-3BDF-E7B5373AEACA}"/>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74B04708-3160-B4A3-F431-9969AC7F645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4</a:t>
            </a:fld>
            <a:endParaRPr lang="en-US"/>
          </a:p>
        </p:txBody>
      </p:sp>
    </p:spTree>
    <p:extLst>
      <p:ext uri="{BB962C8B-B14F-4D97-AF65-F5344CB8AC3E}">
        <p14:creationId xmlns:p14="http://schemas.microsoft.com/office/powerpoint/2010/main" val="3269418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B5598-FEE0-67E3-9D34-0D9DF4A8A14C}"/>
              </a:ext>
            </a:extLst>
          </p:cNvPr>
          <p:cNvSpPr>
            <a:spLocks noGrp="1"/>
          </p:cNvSpPr>
          <p:nvPr>
            <p:ph type="title"/>
          </p:nvPr>
        </p:nvSpPr>
        <p:spPr>
          <a:xfrm>
            <a:off x="429768" y="640080"/>
            <a:ext cx="3493008" cy="3621024"/>
          </a:xfrm>
        </p:spPr>
        <p:txBody>
          <a:bodyPr anchor="t">
            <a:normAutofit/>
          </a:bodyPr>
          <a:lstStyle/>
          <a:p>
            <a:r>
              <a:rPr lang="en-US"/>
              <a:t>Key Metrics and Definitions</a:t>
            </a:r>
          </a:p>
        </p:txBody>
      </p:sp>
      <p:sp>
        <p:nvSpPr>
          <p:cNvPr id="3" name="Content Placeholder 2">
            <a:extLst>
              <a:ext uri="{FF2B5EF4-FFF2-40B4-BE49-F238E27FC236}">
                <a16:creationId xmlns:a16="http://schemas.microsoft.com/office/drawing/2014/main" id="{67957500-CCB6-F27C-17FD-4DDE13FF121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25696" y="640080"/>
            <a:ext cx="7159752" cy="5724144"/>
          </a:xfrm>
        </p:spPr>
        <p:txBody>
          <a:bodyPr>
            <a:normAutofit/>
          </a:bodyPr>
          <a:lstStyle/>
          <a:p>
            <a:pPr marL="0" indent="0">
              <a:spcBef>
                <a:spcPts val="2500"/>
              </a:spcBef>
              <a:buFont typeface="Arial" panose="020B0604020202020204" pitchFamily="34" charset="0"/>
              <a:buNone/>
            </a:pPr>
            <a:r>
              <a:rPr lang="en-US" sz="1400" b="1" dirty="0"/>
              <a:t>Sales Volume</a:t>
            </a:r>
          </a:p>
          <a:p>
            <a:pPr marL="0" lvl="1" indent="0">
              <a:buFont typeface="Arial" panose="020B0604020202020204" pitchFamily="34" charset="0"/>
              <a:buNone/>
            </a:pPr>
            <a:r>
              <a:rPr lang="en-US" sz="1400" dirty="0"/>
              <a:t>Sales volume measures the total quantity of products or services sold over a specific period.</a:t>
            </a:r>
          </a:p>
          <a:p>
            <a:pPr marL="0" indent="0">
              <a:spcBef>
                <a:spcPts val="2500"/>
              </a:spcBef>
              <a:buFont typeface="Arial" panose="020B0604020202020204" pitchFamily="34" charset="0"/>
              <a:buNone/>
            </a:pPr>
            <a:r>
              <a:rPr lang="en-US" sz="1400" b="1" dirty="0"/>
              <a:t>Revenue</a:t>
            </a:r>
          </a:p>
          <a:p>
            <a:pPr marL="0" lvl="1" indent="0">
              <a:buFont typeface="Arial" panose="020B0604020202020204" pitchFamily="34" charset="0"/>
              <a:buNone/>
            </a:pPr>
            <a:r>
              <a:rPr lang="en-US" sz="1400" dirty="0"/>
              <a:t>Revenue represents the total income generated from sales before expenses are deducted.</a:t>
            </a:r>
          </a:p>
          <a:p>
            <a:pPr marL="0" indent="0">
              <a:spcBef>
                <a:spcPts val="2500"/>
              </a:spcBef>
              <a:buFont typeface="Arial" panose="020B0604020202020204" pitchFamily="34" charset="0"/>
              <a:buNone/>
            </a:pPr>
            <a:r>
              <a:rPr lang="en-US" sz="1400" b="1" dirty="0"/>
              <a:t>Inventory Turnover</a:t>
            </a:r>
          </a:p>
          <a:p>
            <a:pPr marL="0" lvl="1" indent="0">
              <a:buFont typeface="Arial" panose="020B0604020202020204" pitchFamily="34" charset="0"/>
              <a:buNone/>
            </a:pPr>
            <a:r>
              <a:rPr lang="en-US" sz="1400" dirty="0"/>
              <a:t>Inventory turnover indicates how often inventory is sold and replaced during a period.</a:t>
            </a:r>
          </a:p>
          <a:p>
            <a:pPr marL="0" indent="0">
              <a:spcBef>
                <a:spcPts val="2500"/>
              </a:spcBef>
              <a:buFont typeface="Arial" panose="020B0604020202020204" pitchFamily="34" charset="0"/>
              <a:buNone/>
            </a:pPr>
            <a:r>
              <a:rPr lang="en-US" sz="1400" b="1" dirty="0"/>
              <a:t>Biggest Sellers</a:t>
            </a:r>
          </a:p>
          <a:p>
            <a:pPr marL="0" lvl="1" indent="0">
              <a:buFont typeface="Arial" panose="020B0604020202020204" pitchFamily="34" charset="0"/>
              <a:buNone/>
            </a:pPr>
            <a:r>
              <a:rPr lang="en-US" sz="1400" dirty="0"/>
              <a:t>Based on total sales amount of volume of which each item is purchased</a:t>
            </a:r>
          </a:p>
        </p:txBody>
      </p:sp>
      <p:sp>
        <p:nvSpPr>
          <p:cNvPr id="4" name="Date Placeholder 3">
            <a:extLst>
              <a:ext uri="{FF2B5EF4-FFF2-40B4-BE49-F238E27FC236}">
                <a16:creationId xmlns:a16="http://schemas.microsoft.com/office/drawing/2014/main" id="{31847A55-631A-12BD-6EB5-535C76D678A5}"/>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BBCAEDF8-FAAD-8FFD-D1A8-2930387A44FC}"/>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1D75B1F4-E28B-7D1A-F583-F0490E0CD84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5</a:t>
            </a:fld>
            <a:endParaRPr lang="en-US"/>
          </a:p>
        </p:txBody>
      </p:sp>
    </p:spTree>
    <p:extLst>
      <p:ext uri="{BB962C8B-B14F-4D97-AF65-F5344CB8AC3E}">
        <p14:creationId xmlns:p14="http://schemas.microsoft.com/office/powerpoint/2010/main" val="2055267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3A1B3-E8AC-1499-A2EE-8EB3BCF09983}"/>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700" b="0" kern="1200" cap="all" baseline="0">
                <a:latin typeface="+mj-lt"/>
                <a:ea typeface="+mj-ea"/>
                <a:cs typeface="+mj-cs"/>
              </a:rPr>
              <a:t>Data Sources and Methodology</a:t>
            </a:r>
          </a:p>
        </p:txBody>
      </p:sp>
      <p:pic>
        <p:nvPicPr>
          <p:cNvPr id="7" name="Content Placeholder 6" descr="Office work table with economic charts documents on top view">
            <a:extLst>
              <a:ext uri="{FF2B5EF4-FFF2-40B4-BE49-F238E27FC236}">
                <a16:creationId xmlns:a16="http://schemas.microsoft.com/office/drawing/2014/main" id="{96546E90-9CA2-4FA9-93C6-FB06CEA2BA05}"/>
              </a:ext>
            </a:extLst>
          </p:cNvPr>
          <p:cNvPicPr>
            <a:picLocks noGrp="1" noChangeAspect="1"/>
          </p:cNvPicPr>
          <p:nvPr>
            <p:ph type="pic" sz="quarter" idx="15"/>
          </p:nvPr>
        </p:nvPicPr>
        <p:blipFill>
          <a:blip r:embed="rId3"/>
          <a:srcRect l="9479" r="9845" b="1"/>
          <a:stretch>
            <a:fillRect/>
          </a:stretch>
        </p:blipFill>
        <p:spPr>
          <a:xfrm>
            <a:off x="20" y="10"/>
            <a:ext cx="7734280" cy="6399142"/>
          </a:xfrm>
          <a:prstGeom prst="rect">
            <a:avLst/>
          </a:prstGeom>
          <a:noFill/>
        </p:spPr>
      </p:pic>
      <p:sp>
        <p:nvSpPr>
          <p:cNvPr id="8" name="TextBox 7">
            <a:extLst>
              <a:ext uri="{FF2B5EF4-FFF2-40B4-BE49-F238E27FC236}">
                <a16:creationId xmlns:a16="http://schemas.microsoft.com/office/drawing/2014/main" id="{0E2BFB34-61EA-45DB-B690-7C9CA61C4BE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Data Sources Overview</a:t>
            </a:r>
          </a:p>
          <a:p>
            <a:pPr marL="0" lvl="1" indent="0">
              <a:lnSpc>
                <a:spcPct val="90000"/>
              </a:lnSpc>
              <a:spcBef>
                <a:spcPts val="1000"/>
              </a:spcBef>
              <a:spcAft>
                <a:spcPts val="600"/>
              </a:spcAft>
              <a:buFont typeface="Arial" panose="020B0604020202020204" pitchFamily="34" charset="0"/>
              <a:buNone/>
            </a:pPr>
            <a:r>
              <a:rPr lang="en-US" sz="1400" dirty="0"/>
              <a:t>The report utilizes sales records, inventory data, customer purchases, and market research as primary data sources.</a:t>
            </a:r>
          </a:p>
          <a:p>
            <a:pPr marL="0" indent="0">
              <a:lnSpc>
                <a:spcPct val="90000"/>
              </a:lnSpc>
              <a:spcBef>
                <a:spcPts val="2500"/>
              </a:spcBef>
              <a:spcAft>
                <a:spcPts val="600"/>
              </a:spcAft>
              <a:buFont typeface="Arial" panose="020B0604020202020204" pitchFamily="34" charset="0"/>
              <a:buNone/>
            </a:pPr>
            <a:r>
              <a:rPr lang="en-US" sz="1400" b="1" dirty="0"/>
              <a:t>Analysis Techniques</a:t>
            </a:r>
          </a:p>
          <a:p>
            <a:pPr marL="0" lvl="1" indent="0">
              <a:lnSpc>
                <a:spcPct val="90000"/>
              </a:lnSpc>
              <a:spcBef>
                <a:spcPts val="1000"/>
              </a:spcBef>
              <a:spcAft>
                <a:spcPts val="600"/>
              </a:spcAft>
              <a:buFont typeface="Arial" panose="020B0604020202020204" pitchFamily="34" charset="0"/>
              <a:buNone/>
            </a:pPr>
            <a:r>
              <a:rPr lang="en-US" sz="1400" dirty="0"/>
              <a:t>Quantitative analysis and comparative methods are applied to derive robust and actionable insights from data.</a:t>
            </a:r>
          </a:p>
        </p:txBody>
      </p:sp>
      <p:sp>
        <p:nvSpPr>
          <p:cNvPr id="4" name="Date Placeholder 3">
            <a:extLst>
              <a:ext uri="{FF2B5EF4-FFF2-40B4-BE49-F238E27FC236}">
                <a16:creationId xmlns:a16="http://schemas.microsoft.com/office/drawing/2014/main" id="{A22BCEB0-26E2-8155-FB94-C2F2073BA591}"/>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E7068595-CC69-661A-BDDA-2AC7C3698CFF}"/>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749EFE37-6454-6657-8C27-21C9147CCA8D}"/>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6</a:t>
            </a:fld>
            <a:endParaRPr lang="en-US"/>
          </a:p>
        </p:txBody>
      </p:sp>
    </p:spTree>
    <p:extLst>
      <p:ext uri="{BB962C8B-B14F-4D97-AF65-F5344CB8AC3E}">
        <p14:creationId xmlns:p14="http://schemas.microsoft.com/office/powerpoint/2010/main" val="692503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6015-30B0-54E2-E576-F299FC768E09}"/>
              </a:ext>
            </a:extLst>
          </p:cNvPr>
          <p:cNvSpPr>
            <a:spLocks noGrp="1"/>
          </p:cNvSpPr>
          <p:nvPr>
            <p:ph type="title"/>
          </p:nvPr>
        </p:nvSpPr>
        <p:spPr>
          <a:xfrm>
            <a:off x="431172" y="553616"/>
            <a:ext cx="7914087" cy="4008859"/>
          </a:xfrm>
        </p:spPr>
        <p:txBody>
          <a:bodyPr anchor="t">
            <a:normAutofit/>
          </a:bodyPr>
          <a:lstStyle/>
          <a:p>
            <a:r>
              <a:rPr lang="en-US"/>
              <a:t>Warehouse Alcohol Sales Analysis</a:t>
            </a:r>
          </a:p>
        </p:txBody>
      </p:sp>
      <p:sp>
        <p:nvSpPr>
          <p:cNvPr id="11" name="Text Placeholder 2">
            <a:extLst>
              <a:ext uri="{FF2B5EF4-FFF2-40B4-BE49-F238E27FC236}">
                <a16:creationId xmlns:a16="http://schemas.microsoft.com/office/drawing/2014/main" id="{2109FFB1-0FF7-2D24-A2EC-B748EF637049}"/>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CD739E9D-2894-ED53-6426-9A6AB562D0F3}"/>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643CDFD5-DBC1-B6F4-5EF3-F84EE3C6862E}"/>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D64A390B-2084-C8EC-4190-02B076A7808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7</a:t>
            </a:fld>
            <a:endParaRPr lang="en-US"/>
          </a:p>
        </p:txBody>
      </p:sp>
    </p:spTree>
    <p:extLst>
      <p:ext uri="{BB962C8B-B14F-4D97-AF65-F5344CB8AC3E}">
        <p14:creationId xmlns:p14="http://schemas.microsoft.com/office/powerpoint/2010/main" val="636451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F934-1E51-838F-33A6-1BCC90B5F5A6}"/>
              </a:ext>
            </a:extLst>
          </p:cNvPr>
          <p:cNvSpPr>
            <a:spLocks noGrp="1"/>
          </p:cNvSpPr>
          <p:nvPr>
            <p:ph type="title"/>
          </p:nvPr>
        </p:nvSpPr>
        <p:spPr/>
        <p:txBody>
          <a:bodyPr/>
          <a:lstStyle/>
          <a:p>
            <a:r>
              <a:rPr lang="en-US" dirty="0"/>
              <a:t>Warehouse sales and revenue trends</a:t>
            </a:r>
          </a:p>
        </p:txBody>
      </p:sp>
      <p:pic>
        <p:nvPicPr>
          <p:cNvPr id="9" name="Content Placeholder 8" descr="A screenshot of a graph&#10;&#10;AI-generated content may be incorrect.">
            <a:extLst>
              <a:ext uri="{FF2B5EF4-FFF2-40B4-BE49-F238E27FC236}">
                <a16:creationId xmlns:a16="http://schemas.microsoft.com/office/drawing/2014/main" id="{663F3C78-2DB5-4BEC-9019-E5B05B077A41}"/>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953861" y="2699657"/>
            <a:ext cx="7238139" cy="4158343"/>
          </a:xfrm>
        </p:spPr>
      </p:pic>
      <p:sp>
        <p:nvSpPr>
          <p:cNvPr id="5" name="Date Placeholder 4">
            <a:extLst>
              <a:ext uri="{FF2B5EF4-FFF2-40B4-BE49-F238E27FC236}">
                <a16:creationId xmlns:a16="http://schemas.microsoft.com/office/drawing/2014/main" id="{803EAD50-3E47-C5D6-1165-D7C105C2C96B}"/>
              </a:ext>
            </a:extLst>
          </p:cNvPr>
          <p:cNvSpPr>
            <a:spLocks noGrp="1"/>
          </p:cNvSpPr>
          <p:nvPr>
            <p:ph type="dt" sz="half" idx="10"/>
          </p:nvPr>
        </p:nvSpPr>
        <p:spPr/>
        <p:txBody>
          <a:bodyPr/>
          <a:lstStyle/>
          <a:p>
            <a:fld id="{260A58D8-7EDF-40A6-A98C-8CBDF59A319E}" type="datetime1">
              <a:rPr lang="en-US" smtClean="0"/>
              <a:t>11/19/2025</a:t>
            </a:fld>
            <a:endParaRPr lang="en-US" dirty="0"/>
          </a:p>
        </p:txBody>
      </p:sp>
      <p:sp>
        <p:nvSpPr>
          <p:cNvPr id="6" name="Footer Placeholder 5">
            <a:extLst>
              <a:ext uri="{FF2B5EF4-FFF2-40B4-BE49-F238E27FC236}">
                <a16:creationId xmlns:a16="http://schemas.microsoft.com/office/drawing/2014/main" id="{0814B925-2775-DE37-5A24-6E6C38804C0C}"/>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13B97CC-721B-BA47-E8B1-525F9A5834E7}"/>
              </a:ext>
            </a:extLst>
          </p:cNvPr>
          <p:cNvSpPr>
            <a:spLocks noGrp="1"/>
          </p:cNvSpPr>
          <p:nvPr>
            <p:ph type="sldNum" sz="quarter" idx="12"/>
          </p:nvPr>
        </p:nvSpPr>
        <p:spPr/>
        <p:txBody>
          <a:bodyPr/>
          <a:lstStyle/>
          <a:p>
            <a:fld id="{CC057153-B650-4DEB-B370-79DDCFDCE934}" type="slidenum">
              <a:rPr lang="en-US" smtClean="0"/>
              <a:pPr/>
              <a:t>8</a:t>
            </a:fld>
            <a:endParaRPr lang="en-US" dirty="0"/>
          </a:p>
        </p:txBody>
      </p:sp>
      <p:sp>
        <p:nvSpPr>
          <p:cNvPr id="11" name="TextBox 10">
            <a:extLst>
              <a:ext uri="{FF2B5EF4-FFF2-40B4-BE49-F238E27FC236}">
                <a16:creationId xmlns:a16="http://schemas.microsoft.com/office/drawing/2014/main" id="{5E3461DB-C8BD-D419-00D4-1AF6D0DE5528}"/>
              </a:ext>
            </a:extLst>
          </p:cNvPr>
          <p:cNvSpPr txBox="1"/>
          <p:nvPr/>
        </p:nvSpPr>
        <p:spPr>
          <a:xfrm>
            <a:off x="250371" y="2699657"/>
            <a:ext cx="4480560" cy="2769989"/>
          </a:xfrm>
          <a:prstGeom prst="rect">
            <a:avLst/>
          </a:prstGeom>
          <a:noFill/>
        </p:spPr>
        <p:txBody>
          <a:bodyPr wrap="square" rtlCol="0">
            <a:spAutoFit/>
          </a:bodyPr>
          <a:lstStyle/>
          <a:p>
            <a:r>
              <a:rPr lang="en-US" sz="1300" b="1" dirty="0"/>
              <a:t>Best Sellers</a:t>
            </a:r>
          </a:p>
          <a:p>
            <a:pPr marL="285750" indent="-285750">
              <a:buFontTx/>
              <a:buChar char="-"/>
            </a:pPr>
            <a:r>
              <a:rPr lang="en-US" sz="1300" dirty="0"/>
              <a:t>Beer is clearly the best seller at the warehouse. Not the same kind of beer is top in warehouse. Wine is also a top seller</a:t>
            </a:r>
          </a:p>
          <a:p>
            <a:endParaRPr lang="en-US" sz="1300" b="1" dirty="0"/>
          </a:p>
          <a:p>
            <a:r>
              <a:rPr lang="en-US" sz="1300" b="1" dirty="0"/>
              <a:t>Kegs</a:t>
            </a:r>
            <a:endParaRPr lang="en-US" sz="1300" dirty="0"/>
          </a:p>
          <a:p>
            <a:pPr marL="285750" indent="-285750">
              <a:buFontTx/>
              <a:buChar char="-"/>
            </a:pPr>
            <a:r>
              <a:rPr lang="en-US" sz="1300" dirty="0"/>
              <a:t>Many kegs in the warehouse are hardly sold. Long list of kegs that never sell. Don’t waste space.]</a:t>
            </a:r>
          </a:p>
          <a:p>
            <a:endParaRPr lang="en-US" sz="1300" b="1" dirty="0"/>
          </a:p>
          <a:p>
            <a:r>
              <a:rPr lang="en-US" sz="1300" b="1" dirty="0"/>
              <a:t>Top Kegs</a:t>
            </a:r>
          </a:p>
          <a:p>
            <a:r>
              <a:rPr lang="en-US" sz="1300" dirty="0"/>
              <a:t>- The best-selling kegs hardly change. Invest more space into the best-selling kegs</a:t>
            </a:r>
          </a:p>
          <a:p>
            <a:endParaRPr lang="en-US" dirty="0"/>
          </a:p>
        </p:txBody>
      </p:sp>
    </p:spTree>
    <p:extLst>
      <p:ext uri="{BB962C8B-B14F-4D97-AF65-F5344CB8AC3E}">
        <p14:creationId xmlns:p14="http://schemas.microsoft.com/office/powerpoint/2010/main" val="245402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5861-8073-9520-FB28-B0CCD97DA514}"/>
              </a:ext>
            </a:extLst>
          </p:cNvPr>
          <p:cNvSpPr>
            <a:spLocks noGrp="1"/>
          </p:cNvSpPr>
          <p:nvPr>
            <p:ph type="title"/>
          </p:nvPr>
        </p:nvSpPr>
        <p:spPr>
          <a:xfrm>
            <a:off x="431172" y="553616"/>
            <a:ext cx="7914087" cy="4008859"/>
          </a:xfrm>
        </p:spPr>
        <p:txBody>
          <a:bodyPr anchor="t">
            <a:normAutofit/>
          </a:bodyPr>
          <a:lstStyle/>
          <a:p>
            <a:r>
              <a:rPr lang="en-US"/>
              <a:t>Retail Alcohol Sales Analysis</a:t>
            </a:r>
          </a:p>
        </p:txBody>
      </p:sp>
      <p:sp>
        <p:nvSpPr>
          <p:cNvPr id="11" name="Text Placeholder 2">
            <a:extLst>
              <a:ext uri="{FF2B5EF4-FFF2-40B4-BE49-F238E27FC236}">
                <a16:creationId xmlns:a16="http://schemas.microsoft.com/office/drawing/2014/main" id="{6ED228BB-E4CE-F352-CBE5-4ED30C0E172E}"/>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38ACF77C-0B0D-0276-628E-BDBAF3AD4A45}"/>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DD2DAF50-8FD8-7C62-6BE1-4CBECE0CBC2B}"/>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E6566813-24F9-F929-F226-2B8F63CD98E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9</a:t>
            </a:fld>
            <a:endParaRPr lang="en-US"/>
          </a:p>
        </p:txBody>
      </p:sp>
    </p:spTree>
    <p:extLst>
      <p:ext uri="{BB962C8B-B14F-4D97-AF65-F5344CB8AC3E}">
        <p14:creationId xmlns:p14="http://schemas.microsoft.com/office/powerpoint/2010/main" val="2864840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ECE73-2AE9-B966-6510-68820B1B624A}"/>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US" sz="2700" b="0" kern="1200" cap="all" baseline="0">
                <a:latin typeface="+mj-lt"/>
                <a:ea typeface="+mj-ea"/>
                <a:cs typeface="+mj-cs"/>
              </a:rPr>
              <a:t>Retail Sales Volume and Revenue Trends</a:t>
            </a:r>
          </a:p>
        </p:txBody>
      </p:sp>
      <p:sp>
        <p:nvSpPr>
          <p:cNvPr id="8" name="TextBox 7">
            <a:extLst>
              <a:ext uri="{FF2B5EF4-FFF2-40B4-BE49-F238E27FC236}">
                <a16:creationId xmlns:a16="http://schemas.microsoft.com/office/drawing/2014/main" id="{704749D6-52AF-4434-9F54-1B5A98AA4AA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300" b="1" dirty="0"/>
              <a:t>Consumer Demand Fluctuations</a:t>
            </a:r>
          </a:p>
          <a:p>
            <a:pPr marL="0" lvl="1" indent="0">
              <a:lnSpc>
                <a:spcPct val="90000"/>
              </a:lnSpc>
              <a:spcBef>
                <a:spcPts val="1000"/>
              </a:spcBef>
              <a:spcAft>
                <a:spcPts val="600"/>
              </a:spcAft>
              <a:buFont typeface="Arial" panose="020B0604020202020204" pitchFamily="34" charset="0"/>
              <a:buNone/>
            </a:pPr>
            <a:r>
              <a:rPr lang="en-US" sz="1300" dirty="0"/>
              <a:t>While customer demand and taste changes slightly overtime. The main sellers never change dramatically, as shown in the report</a:t>
            </a:r>
          </a:p>
          <a:p>
            <a:pPr marL="0" indent="0">
              <a:lnSpc>
                <a:spcPct val="90000"/>
              </a:lnSpc>
              <a:spcBef>
                <a:spcPts val="2500"/>
              </a:spcBef>
              <a:spcAft>
                <a:spcPts val="600"/>
              </a:spcAft>
              <a:buFont typeface="Arial" panose="020B0604020202020204" pitchFamily="34" charset="0"/>
              <a:buNone/>
            </a:pPr>
            <a:r>
              <a:rPr lang="en-US" sz="1300" b="1" dirty="0"/>
              <a:t>Revenue Changes</a:t>
            </a:r>
          </a:p>
          <a:p>
            <a:pPr marL="0" lvl="1" indent="0">
              <a:lnSpc>
                <a:spcPct val="90000"/>
              </a:lnSpc>
              <a:spcBef>
                <a:spcPts val="1000"/>
              </a:spcBef>
              <a:spcAft>
                <a:spcPts val="600"/>
              </a:spcAft>
              <a:buFont typeface="Arial" panose="020B0604020202020204" pitchFamily="34" charset="0"/>
              <a:buNone/>
            </a:pPr>
            <a:r>
              <a:rPr lang="en-US" sz="1300" dirty="0"/>
              <a:t>Sharp decrease in sale during the year 2019. Slight rebound in 2020. </a:t>
            </a:r>
          </a:p>
          <a:p>
            <a:pPr marL="0" indent="0">
              <a:lnSpc>
                <a:spcPct val="90000"/>
              </a:lnSpc>
              <a:spcBef>
                <a:spcPts val="2500"/>
              </a:spcBef>
              <a:spcAft>
                <a:spcPts val="600"/>
              </a:spcAft>
              <a:buFont typeface="Arial" panose="020B0604020202020204" pitchFamily="34" charset="0"/>
              <a:buNone/>
            </a:pPr>
            <a:r>
              <a:rPr lang="en-US" sz="1300" b="1" dirty="0"/>
              <a:t>Retail Segment Performance</a:t>
            </a:r>
          </a:p>
          <a:p>
            <a:pPr marL="0" lvl="1" indent="0">
              <a:lnSpc>
                <a:spcPct val="90000"/>
              </a:lnSpc>
              <a:spcBef>
                <a:spcPts val="1000"/>
              </a:spcBef>
              <a:spcAft>
                <a:spcPts val="600"/>
              </a:spcAft>
              <a:buFont typeface="Arial" panose="020B0604020202020204" pitchFamily="34" charset="0"/>
              <a:buNone/>
            </a:pPr>
            <a:r>
              <a:rPr lang="en-US" sz="1300" dirty="0"/>
              <a:t>Analyzing sales and revenue data helps evaluate the performance of various retail categories and market sectors.</a:t>
            </a:r>
          </a:p>
        </p:txBody>
      </p:sp>
      <p:sp>
        <p:nvSpPr>
          <p:cNvPr id="4" name="Date Placeholder 3">
            <a:extLst>
              <a:ext uri="{FF2B5EF4-FFF2-40B4-BE49-F238E27FC236}">
                <a16:creationId xmlns:a16="http://schemas.microsoft.com/office/drawing/2014/main" id="{FF267781-B6AA-1A1E-6DB7-2C65D5E75248}"/>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CDB51679-B76A-003A-F6E2-032377A1A337}"/>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711635F7-1004-5325-0169-01F90AC84F5D}"/>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10</a:t>
            </a:fld>
            <a:endParaRPr lang="en-US"/>
          </a:p>
        </p:txBody>
      </p:sp>
      <p:pic>
        <p:nvPicPr>
          <p:cNvPr id="15" name="Picture 14" descr="A screenshot of a graph&#10;&#10;AI-generated content may be incorrect.">
            <a:extLst>
              <a:ext uri="{FF2B5EF4-FFF2-40B4-BE49-F238E27FC236}">
                <a16:creationId xmlns:a16="http://schemas.microsoft.com/office/drawing/2014/main" id="{70E09C75-0D3C-C59E-0353-C80222699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2915" y="1965322"/>
            <a:ext cx="8469086" cy="4861343"/>
          </a:xfrm>
          <a:prstGeom prst="rect">
            <a:avLst/>
          </a:prstGeom>
        </p:spPr>
      </p:pic>
    </p:spTree>
    <p:extLst>
      <p:ext uri="{BB962C8B-B14F-4D97-AF65-F5344CB8AC3E}">
        <p14:creationId xmlns:p14="http://schemas.microsoft.com/office/powerpoint/2010/main" val="2627024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4C649-F3DD-826F-05DD-AC5C6E803B2A}"/>
              </a:ext>
            </a:extLst>
          </p:cNvPr>
          <p:cNvSpPr>
            <a:spLocks noGrp="1"/>
          </p:cNvSpPr>
          <p:nvPr>
            <p:ph type="title"/>
          </p:nvPr>
        </p:nvSpPr>
        <p:spPr>
          <a:xfrm>
            <a:off x="431172" y="553616"/>
            <a:ext cx="7914087" cy="4008859"/>
          </a:xfrm>
        </p:spPr>
        <p:txBody>
          <a:bodyPr anchor="t">
            <a:normAutofit/>
          </a:bodyPr>
          <a:lstStyle/>
          <a:p>
            <a:r>
              <a:rPr lang="en-US" dirty="0"/>
              <a:t>Comparative Insights: Warehouse Vs. Retail</a:t>
            </a:r>
          </a:p>
        </p:txBody>
      </p:sp>
      <p:sp>
        <p:nvSpPr>
          <p:cNvPr id="11" name="Text Placeholder 2">
            <a:extLst>
              <a:ext uri="{FF2B5EF4-FFF2-40B4-BE49-F238E27FC236}">
                <a16:creationId xmlns:a16="http://schemas.microsoft.com/office/drawing/2014/main" id="{1E05A5FE-0BF9-4B57-2B26-969F843C03BF}"/>
              </a:ext>
            </a:extLst>
          </p:cNvPr>
          <p:cNvSpPr>
            <a:spLocks noGrp="1"/>
          </p:cNvSpPr>
          <p:nvPr>
            <p:ph type="body" idx="1"/>
          </p:nvPr>
        </p:nvSpPr>
        <p:spPr>
          <a:xfrm>
            <a:off x="431172" y="3875314"/>
            <a:ext cx="7914087" cy="2379490"/>
          </a:xfrm>
        </p:spPr>
        <p:txBody>
          <a:bodyPr/>
          <a:lstStyle/>
          <a:p>
            <a:endParaRPr lang="en-US" dirty="0"/>
          </a:p>
        </p:txBody>
      </p:sp>
      <p:sp>
        <p:nvSpPr>
          <p:cNvPr id="4" name="Date Placeholder 3">
            <a:extLst>
              <a:ext uri="{FF2B5EF4-FFF2-40B4-BE49-F238E27FC236}">
                <a16:creationId xmlns:a16="http://schemas.microsoft.com/office/drawing/2014/main" id="{927CB184-D269-A785-1490-49931DB25EA9}"/>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17D34EF0-8D23-A0C0-6B11-69FFECC3A384}"/>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2ABAB532-C640-C5AD-9079-EFD4C019633E}"/>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11</a:t>
            </a:fld>
            <a:endParaRPr lang="en-US"/>
          </a:p>
        </p:txBody>
      </p:sp>
    </p:spTree>
    <p:extLst>
      <p:ext uri="{BB962C8B-B14F-4D97-AF65-F5344CB8AC3E}">
        <p14:creationId xmlns:p14="http://schemas.microsoft.com/office/powerpoint/2010/main" val="1772139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3362A-4E48-2BA3-3526-D4543DA6D1AF}"/>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3000" b="0" kern="1200" cap="all" baseline="0">
                <a:latin typeface="+mj-lt"/>
                <a:ea typeface="+mj-ea"/>
                <a:cs typeface="+mj-cs"/>
              </a:rPr>
              <a:t>Comparison of Sales Performance</a:t>
            </a:r>
          </a:p>
        </p:txBody>
      </p:sp>
      <p:pic>
        <p:nvPicPr>
          <p:cNvPr id="7" name="Content Placeholder 6" descr="Shot of a businessman looking thoughtfully at a graph against a white background">
            <a:extLst>
              <a:ext uri="{FF2B5EF4-FFF2-40B4-BE49-F238E27FC236}">
                <a16:creationId xmlns:a16="http://schemas.microsoft.com/office/drawing/2014/main" id="{A3F92CCA-AB70-48F6-BDB1-3A57BE0F77B8}"/>
              </a:ext>
            </a:extLst>
          </p:cNvPr>
          <p:cNvPicPr>
            <a:picLocks noGrp="1" noChangeAspect="1"/>
          </p:cNvPicPr>
          <p:nvPr>
            <p:ph type="pic" sz="quarter" idx="15"/>
          </p:nvPr>
        </p:nvPicPr>
        <p:blipFill>
          <a:blip r:embed="rId3"/>
          <a:srcRect r="19324" b="1"/>
          <a:stretch>
            <a:fillRect/>
          </a:stretch>
        </p:blipFill>
        <p:spPr>
          <a:xfrm>
            <a:off x="20" y="10"/>
            <a:ext cx="7734280" cy="6399142"/>
          </a:xfrm>
          <a:prstGeom prst="rect">
            <a:avLst/>
          </a:prstGeom>
          <a:noFill/>
        </p:spPr>
      </p:pic>
      <p:sp>
        <p:nvSpPr>
          <p:cNvPr id="8" name="TextBox 7">
            <a:extLst>
              <a:ext uri="{FF2B5EF4-FFF2-40B4-BE49-F238E27FC236}">
                <a16:creationId xmlns:a16="http://schemas.microsoft.com/office/drawing/2014/main" id="{6A6FCD9E-7038-4EFF-8221-B60867B1C4C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a:t>Sales Volume Comparison</a:t>
            </a:r>
          </a:p>
          <a:p>
            <a:pPr marL="0" lvl="1" indent="0">
              <a:lnSpc>
                <a:spcPct val="90000"/>
              </a:lnSpc>
              <a:spcBef>
                <a:spcPts val="1000"/>
              </a:spcBef>
              <a:spcAft>
                <a:spcPts val="600"/>
              </a:spcAft>
              <a:buFont typeface="Arial" panose="020B0604020202020204" pitchFamily="34" charset="0"/>
              <a:buNone/>
            </a:pPr>
            <a:r>
              <a:rPr lang="en-US" sz="900"/>
              <a:t>Warehouse and retail sectors show different sales volumes, revealing distinct market demands and customer reach.</a:t>
            </a:r>
          </a:p>
          <a:p>
            <a:pPr marL="0" indent="0">
              <a:lnSpc>
                <a:spcPct val="90000"/>
              </a:lnSpc>
              <a:spcBef>
                <a:spcPts val="2500"/>
              </a:spcBef>
              <a:spcAft>
                <a:spcPts val="600"/>
              </a:spcAft>
              <a:buFont typeface="Arial" panose="020B0604020202020204" pitchFamily="34" charset="0"/>
              <a:buNone/>
            </a:pPr>
            <a:r>
              <a:rPr lang="en-US" sz="900" b="1"/>
              <a:t>Revenue Analysis</a:t>
            </a:r>
          </a:p>
          <a:p>
            <a:pPr marL="0" lvl="1" indent="0">
              <a:lnSpc>
                <a:spcPct val="90000"/>
              </a:lnSpc>
              <a:spcBef>
                <a:spcPts val="1000"/>
              </a:spcBef>
              <a:spcAft>
                <a:spcPts val="600"/>
              </a:spcAft>
              <a:buFont typeface="Arial" panose="020B0604020202020204" pitchFamily="34" charset="0"/>
              <a:buNone/>
            </a:pPr>
            <a:r>
              <a:rPr lang="en-US" sz="900"/>
              <a:t>Revenue figures highlight the financial impact of each sector, emphasizing profitability and business scale.</a:t>
            </a:r>
          </a:p>
          <a:p>
            <a:pPr marL="0" indent="0">
              <a:lnSpc>
                <a:spcPct val="90000"/>
              </a:lnSpc>
              <a:spcBef>
                <a:spcPts val="2500"/>
              </a:spcBef>
              <a:spcAft>
                <a:spcPts val="600"/>
              </a:spcAft>
              <a:buFont typeface="Arial" panose="020B0604020202020204" pitchFamily="34" charset="0"/>
              <a:buNone/>
            </a:pPr>
            <a:r>
              <a:rPr lang="en-US" sz="900" b="1"/>
              <a:t>Growth Trends</a:t>
            </a:r>
          </a:p>
          <a:p>
            <a:pPr marL="0" lvl="1" indent="0">
              <a:lnSpc>
                <a:spcPct val="90000"/>
              </a:lnSpc>
              <a:spcBef>
                <a:spcPts val="1000"/>
              </a:spcBef>
              <a:spcAft>
                <a:spcPts val="600"/>
              </a:spcAft>
              <a:buFont typeface="Arial" panose="020B0604020202020204" pitchFamily="34" charset="0"/>
              <a:buNone/>
            </a:pPr>
            <a:r>
              <a:rPr lang="en-US" sz="900"/>
              <a:t>Examining growth trends helps identify which sector drives more sustainable business expansion.</a:t>
            </a:r>
          </a:p>
        </p:txBody>
      </p:sp>
      <p:sp>
        <p:nvSpPr>
          <p:cNvPr id="4" name="Date Placeholder 3">
            <a:extLst>
              <a:ext uri="{FF2B5EF4-FFF2-40B4-BE49-F238E27FC236}">
                <a16:creationId xmlns:a16="http://schemas.microsoft.com/office/drawing/2014/main" id="{86D04D7C-92B8-6261-6F4F-77138A48F6F6}"/>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EB32E822-8FFE-7C03-7FF8-97F0A0BE9AAE}"/>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78331B4F-C49E-1A83-F657-BF71E694DAC6}"/>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12</a:t>
            </a:fld>
            <a:endParaRPr lang="en-US"/>
          </a:p>
        </p:txBody>
      </p:sp>
    </p:spTree>
    <p:extLst>
      <p:ext uri="{BB962C8B-B14F-4D97-AF65-F5344CB8AC3E}">
        <p14:creationId xmlns:p14="http://schemas.microsoft.com/office/powerpoint/2010/main" val="3902719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9C36-8161-C4AF-2BF7-82AD0AB26E02}"/>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Analysis of Distribution Efficiency</a:t>
            </a:r>
          </a:p>
        </p:txBody>
      </p:sp>
      <p:pic>
        <p:nvPicPr>
          <p:cNvPr id="7" name="Content Placeholder 6" descr="Green shopping trolley in supermarket">
            <a:extLst>
              <a:ext uri="{FF2B5EF4-FFF2-40B4-BE49-F238E27FC236}">
                <a16:creationId xmlns:a16="http://schemas.microsoft.com/office/drawing/2014/main" id="{607492C7-1775-4317-8B83-9CAF133AECF3}"/>
              </a:ext>
            </a:extLst>
          </p:cNvPr>
          <p:cNvPicPr>
            <a:picLocks noGrp="1" noChangeAspect="1"/>
          </p:cNvPicPr>
          <p:nvPr>
            <p:ph type="pic" sz="quarter" idx="15"/>
          </p:nvPr>
        </p:nvPicPr>
        <p:blipFill>
          <a:blip r:embed="rId3"/>
          <a:srcRect l="9430" r="9894" b="1"/>
          <a:stretch>
            <a:fillRect/>
          </a:stretch>
        </p:blipFill>
        <p:spPr>
          <a:xfrm>
            <a:off x="20" y="10"/>
            <a:ext cx="7734280" cy="6399142"/>
          </a:xfrm>
          <a:prstGeom prst="rect">
            <a:avLst/>
          </a:prstGeom>
          <a:noFill/>
        </p:spPr>
      </p:pic>
      <p:sp>
        <p:nvSpPr>
          <p:cNvPr id="8" name="TextBox 7">
            <a:extLst>
              <a:ext uri="{FF2B5EF4-FFF2-40B4-BE49-F238E27FC236}">
                <a16:creationId xmlns:a16="http://schemas.microsoft.com/office/drawing/2014/main" id="{D2E1BAE4-4728-4D8A-9092-733B33524EC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000" b="1" dirty="0"/>
              <a:t>Warehouse Operations</a:t>
            </a:r>
          </a:p>
          <a:p>
            <a:pPr marL="0" lvl="1" indent="0">
              <a:lnSpc>
                <a:spcPct val="90000"/>
              </a:lnSpc>
              <a:spcBef>
                <a:spcPts val="1000"/>
              </a:spcBef>
              <a:spcAft>
                <a:spcPts val="600"/>
              </a:spcAft>
              <a:buFont typeface="Arial" panose="020B0604020202020204" pitchFamily="34" charset="0"/>
              <a:buNone/>
            </a:pPr>
            <a:r>
              <a:rPr lang="en-US" sz="1000" dirty="0"/>
              <a:t>Top-selling kegs maintain dominance, invest in space for those. Make sure to pay attention to kegs of wine</a:t>
            </a:r>
          </a:p>
          <a:p>
            <a:pPr marL="0" indent="0">
              <a:lnSpc>
                <a:spcPct val="90000"/>
              </a:lnSpc>
              <a:spcBef>
                <a:spcPts val="2500"/>
              </a:spcBef>
              <a:spcAft>
                <a:spcPts val="600"/>
              </a:spcAft>
              <a:buFont typeface="Arial" panose="020B0604020202020204" pitchFamily="34" charset="0"/>
              <a:buNone/>
            </a:pPr>
            <a:r>
              <a:rPr lang="en-US" sz="1000" b="1" dirty="0"/>
              <a:t>Retail Channel Movement</a:t>
            </a:r>
          </a:p>
          <a:p>
            <a:pPr marL="0" lvl="1" indent="0">
              <a:lnSpc>
                <a:spcPct val="90000"/>
              </a:lnSpc>
              <a:spcBef>
                <a:spcPts val="1000"/>
              </a:spcBef>
              <a:spcAft>
                <a:spcPts val="600"/>
              </a:spcAft>
              <a:buFont typeface="Arial" panose="020B0604020202020204" pitchFamily="34" charset="0"/>
              <a:buNone/>
            </a:pPr>
            <a:r>
              <a:rPr lang="en-US" sz="1000" dirty="0"/>
              <a:t>Make sure adequate space is invested for big sellers.</a:t>
            </a:r>
          </a:p>
          <a:p>
            <a:pPr marL="0" indent="0">
              <a:lnSpc>
                <a:spcPct val="90000"/>
              </a:lnSpc>
              <a:spcBef>
                <a:spcPts val="2500"/>
              </a:spcBef>
              <a:spcAft>
                <a:spcPts val="600"/>
              </a:spcAft>
              <a:buFont typeface="Arial" panose="020B0604020202020204" pitchFamily="34" charset="0"/>
              <a:buNone/>
            </a:pPr>
            <a:r>
              <a:rPr lang="en-US" sz="1000" b="1" dirty="0"/>
              <a:t>Supply Chain Challenges</a:t>
            </a:r>
          </a:p>
          <a:p>
            <a:pPr marL="0" lvl="1" indent="0">
              <a:lnSpc>
                <a:spcPct val="90000"/>
              </a:lnSpc>
              <a:spcBef>
                <a:spcPts val="1000"/>
              </a:spcBef>
              <a:spcAft>
                <a:spcPts val="600"/>
              </a:spcAft>
              <a:buFont typeface="Arial" panose="020B0604020202020204" pitchFamily="34" charset="0"/>
              <a:buNone/>
            </a:pPr>
            <a:r>
              <a:rPr lang="en-US" sz="1000" dirty="0"/>
              <a:t>Many kegs do not sell. Stop supplying those kegs</a:t>
            </a:r>
          </a:p>
        </p:txBody>
      </p:sp>
      <p:sp>
        <p:nvSpPr>
          <p:cNvPr id="4" name="Date Placeholder 3">
            <a:extLst>
              <a:ext uri="{FF2B5EF4-FFF2-40B4-BE49-F238E27FC236}">
                <a16:creationId xmlns:a16="http://schemas.microsoft.com/office/drawing/2014/main" id="{B03FEF2E-55DE-5083-F059-B4D55D93C0E2}"/>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8BFBFCE5-D5BE-6862-101E-1BF92A12A9B8}"/>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2878F1D2-3BAA-C8F2-66DA-590770BB4B80}"/>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13</a:t>
            </a:fld>
            <a:endParaRPr lang="en-US"/>
          </a:p>
        </p:txBody>
      </p:sp>
    </p:spTree>
    <p:extLst>
      <p:ext uri="{BB962C8B-B14F-4D97-AF65-F5344CB8AC3E}">
        <p14:creationId xmlns:p14="http://schemas.microsoft.com/office/powerpoint/2010/main" val="362348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A128-9C12-B7FA-C51D-1328987B549F}"/>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200" b="0" kern="1200" cap="all" baseline="0">
                <a:latin typeface="+mj-lt"/>
                <a:ea typeface="+mj-ea"/>
                <a:cs typeface="+mj-cs"/>
              </a:rPr>
              <a:t>Recommendations for Optimization</a:t>
            </a:r>
          </a:p>
        </p:txBody>
      </p:sp>
      <p:pic>
        <p:nvPicPr>
          <p:cNvPr id="7" name="Content Placeholder 6" descr="The young man holding pen writing his goal into notebook">
            <a:extLst>
              <a:ext uri="{FF2B5EF4-FFF2-40B4-BE49-F238E27FC236}">
                <a16:creationId xmlns:a16="http://schemas.microsoft.com/office/drawing/2014/main" id="{860B97C5-17FC-4447-B8F9-72CB5BB319DE}"/>
              </a:ext>
            </a:extLst>
          </p:cNvPr>
          <p:cNvPicPr>
            <a:picLocks noGrp="1" noChangeAspect="1"/>
          </p:cNvPicPr>
          <p:nvPr>
            <p:ph type="pic" sz="quarter" idx="15"/>
          </p:nvPr>
        </p:nvPicPr>
        <p:blipFill>
          <a:blip r:embed="rId3"/>
          <a:srcRect l="14605" r="4718" b="1"/>
          <a:stretch>
            <a:fillRect/>
          </a:stretch>
        </p:blipFill>
        <p:spPr>
          <a:xfrm>
            <a:off x="20" y="10"/>
            <a:ext cx="7734280" cy="6399142"/>
          </a:xfrm>
          <a:prstGeom prst="rect">
            <a:avLst/>
          </a:prstGeom>
          <a:noFill/>
        </p:spPr>
      </p:pic>
      <p:sp>
        <p:nvSpPr>
          <p:cNvPr id="8" name="TextBox 7">
            <a:extLst>
              <a:ext uri="{FF2B5EF4-FFF2-40B4-BE49-F238E27FC236}">
                <a16:creationId xmlns:a16="http://schemas.microsoft.com/office/drawing/2014/main" id="{AC2B8B02-55E7-4191-9543-67F6710A5D7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dirty="0"/>
              <a:t>Big Sellers</a:t>
            </a:r>
          </a:p>
          <a:p>
            <a:pPr marL="0" lvl="1" indent="0">
              <a:lnSpc>
                <a:spcPct val="90000"/>
              </a:lnSpc>
              <a:spcBef>
                <a:spcPts val="1000"/>
              </a:spcBef>
              <a:spcAft>
                <a:spcPts val="600"/>
              </a:spcAft>
              <a:buFont typeface="Arial" panose="020B0604020202020204" pitchFamily="34" charset="0"/>
              <a:buNone/>
            </a:pPr>
            <a:r>
              <a:rPr lang="en-US" sz="900" dirty="0"/>
              <a:t>Focus on promoting the top sellers in both spaces to save on wasted space.</a:t>
            </a:r>
          </a:p>
          <a:p>
            <a:pPr marL="0" indent="0">
              <a:lnSpc>
                <a:spcPct val="90000"/>
              </a:lnSpc>
              <a:spcBef>
                <a:spcPts val="2500"/>
              </a:spcBef>
              <a:spcAft>
                <a:spcPts val="600"/>
              </a:spcAft>
              <a:buFont typeface="Arial" panose="020B0604020202020204" pitchFamily="34" charset="0"/>
              <a:buNone/>
            </a:pPr>
            <a:r>
              <a:rPr lang="en-US" sz="900" b="1" dirty="0"/>
              <a:t>Bad Sellers</a:t>
            </a:r>
          </a:p>
          <a:p>
            <a:pPr marL="0" lvl="1" indent="0">
              <a:lnSpc>
                <a:spcPct val="90000"/>
              </a:lnSpc>
              <a:spcBef>
                <a:spcPts val="1000"/>
              </a:spcBef>
              <a:spcAft>
                <a:spcPts val="600"/>
              </a:spcAft>
              <a:buFont typeface="Arial" panose="020B0604020202020204" pitchFamily="34" charset="0"/>
              <a:buNone/>
            </a:pPr>
            <a:r>
              <a:rPr lang="en-US" sz="900" dirty="0"/>
              <a:t>Many brands do not sell. Stop supplying them and save space for best sellers</a:t>
            </a:r>
          </a:p>
          <a:p>
            <a:pPr marL="0" indent="0">
              <a:lnSpc>
                <a:spcPct val="90000"/>
              </a:lnSpc>
              <a:spcBef>
                <a:spcPts val="2500"/>
              </a:spcBef>
              <a:spcAft>
                <a:spcPts val="600"/>
              </a:spcAft>
              <a:buFont typeface="Arial" panose="020B0604020202020204" pitchFamily="34" charset="0"/>
              <a:buNone/>
            </a:pPr>
            <a:r>
              <a:rPr lang="en-US" sz="900" b="1" dirty="0"/>
              <a:t>Unique Opportunity</a:t>
            </a:r>
          </a:p>
          <a:p>
            <a:pPr marL="0" lvl="1" indent="0">
              <a:lnSpc>
                <a:spcPct val="90000"/>
              </a:lnSpc>
              <a:spcBef>
                <a:spcPts val="1000"/>
              </a:spcBef>
              <a:spcAft>
                <a:spcPts val="600"/>
              </a:spcAft>
              <a:buFont typeface="Arial" panose="020B0604020202020204" pitchFamily="34" charset="0"/>
              <a:buNone/>
            </a:pPr>
            <a:r>
              <a:rPr lang="en-US" sz="900" dirty="0"/>
              <a:t>Non-alcoholic sales has jumped considerable in 2020. Make sure to invest shelf space for non-alcoholic sales</a:t>
            </a:r>
          </a:p>
        </p:txBody>
      </p:sp>
      <p:sp>
        <p:nvSpPr>
          <p:cNvPr id="4" name="Date Placeholder 3">
            <a:extLst>
              <a:ext uri="{FF2B5EF4-FFF2-40B4-BE49-F238E27FC236}">
                <a16:creationId xmlns:a16="http://schemas.microsoft.com/office/drawing/2014/main" id="{AD07F400-4AA7-414D-C525-C8881A201093}"/>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61BD5661-F588-1171-6371-E1A7C6969FB8}"/>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DE6AC952-460C-EEA8-116E-5C41CAAF0FFF}"/>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14</a:t>
            </a:fld>
            <a:endParaRPr lang="en-US"/>
          </a:p>
        </p:txBody>
      </p:sp>
    </p:spTree>
    <p:extLst>
      <p:ext uri="{BB962C8B-B14F-4D97-AF65-F5344CB8AC3E}">
        <p14:creationId xmlns:p14="http://schemas.microsoft.com/office/powerpoint/2010/main" val="776817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5B98-C1A8-C33B-BD28-B4E7A5D5BE2C}"/>
              </a:ext>
            </a:extLst>
          </p:cNvPr>
          <p:cNvSpPr>
            <a:spLocks noGrp="1"/>
          </p:cNvSpPr>
          <p:nvPr>
            <p:ph type="title"/>
          </p:nvPr>
        </p:nvSpPr>
        <p:spPr>
          <a:xfrm>
            <a:off x="431172" y="553616"/>
            <a:ext cx="7914087" cy="4008859"/>
          </a:xfrm>
        </p:spPr>
        <p:txBody>
          <a:bodyPr anchor="t">
            <a:normAutofit/>
          </a:bodyPr>
          <a:lstStyle/>
          <a:p>
            <a:r>
              <a:rPr lang="en-US" sz="5600"/>
              <a:t>Strategic Recommendations and Future Outlook</a:t>
            </a:r>
          </a:p>
        </p:txBody>
      </p:sp>
      <p:sp>
        <p:nvSpPr>
          <p:cNvPr id="11" name="Text Placeholder 2">
            <a:extLst>
              <a:ext uri="{FF2B5EF4-FFF2-40B4-BE49-F238E27FC236}">
                <a16:creationId xmlns:a16="http://schemas.microsoft.com/office/drawing/2014/main" id="{15BA3D47-C921-2AD2-00DA-1B16CD7D15A8}"/>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02886062-5EF8-874B-B575-BD245192CB9F}"/>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809822F7-C1DF-3A73-DD94-7C2A825C56E0}"/>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DC367DCC-273B-BB34-5BBA-D68CB4A1674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15</a:t>
            </a:fld>
            <a:endParaRPr lang="en-US"/>
          </a:p>
        </p:txBody>
      </p:sp>
    </p:spTree>
    <p:extLst>
      <p:ext uri="{BB962C8B-B14F-4D97-AF65-F5344CB8AC3E}">
        <p14:creationId xmlns:p14="http://schemas.microsoft.com/office/powerpoint/2010/main" val="1152639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659A2-89B6-FE8D-1FC4-738932EAE593}"/>
              </a:ext>
            </a:extLst>
          </p:cNvPr>
          <p:cNvSpPr>
            <a:spLocks noGrp="1"/>
          </p:cNvSpPr>
          <p:nvPr>
            <p:ph type="title"/>
          </p:nvPr>
        </p:nvSpPr>
        <p:spPr>
          <a:xfrm>
            <a:off x="321733" y="4162318"/>
            <a:ext cx="2953618" cy="1892808"/>
          </a:xfrm>
        </p:spPr>
        <p:txBody>
          <a:bodyPr vert="horz" lIns="91440" tIns="45720" rIns="91440" bIns="45720" rtlCol="0" anchor="t">
            <a:normAutofit/>
          </a:bodyPr>
          <a:lstStyle/>
          <a:p>
            <a:r>
              <a:rPr lang="en-US" sz="2500" b="0" kern="1200" cap="all" baseline="0">
                <a:latin typeface="+mj-lt"/>
                <a:ea typeface="+mj-ea"/>
                <a:cs typeface="+mj-cs"/>
              </a:rPr>
              <a:t>Opportunities for Growth in Both Sections</a:t>
            </a:r>
          </a:p>
        </p:txBody>
      </p:sp>
      <p:sp>
        <p:nvSpPr>
          <p:cNvPr id="8" name="TextBox 7">
            <a:extLst>
              <a:ext uri="{FF2B5EF4-FFF2-40B4-BE49-F238E27FC236}">
                <a16:creationId xmlns:a16="http://schemas.microsoft.com/office/drawing/2014/main" id="{5590D764-2BCA-465E-A107-D46776B6DAF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77640" y="4162318"/>
            <a:ext cx="7772400" cy="224028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dirty="0"/>
              <a:t>Product</a:t>
            </a:r>
          </a:p>
          <a:p>
            <a:pPr marL="0" lvl="1" indent="0">
              <a:lnSpc>
                <a:spcPct val="90000"/>
              </a:lnSpc>
              <a:spcBef>
                <a:spcPts val="1000"/>
              </a:spcBef>
              <a:spcAft>
                <a:spcPts val="600"/>
              </a:spcAft>
              <a:buFont typeface="Arial" panose="020B0604020202020204" pitchFamily="34" charset="0"/>
              <a:buNone/>
            </a:pPr>
            <a:r>
              <a:rPr lang="en-US" sz="900" dirty="0"/>
              <a:t>Focus on providing the biggest sellers to optimize what has shown to sell.</a:t>
            </a:r>
          </a:p>
          <a:p>
            <a:pPr marL="0" indent="0">
              <a:lnSpc>
                <a:spcPct val="90000"/>
              </a:lnSpc>
              <a:spcBef>
                <a:spcPts val="2500"/>
              </a:spcBef>
              <a:spcAft>
                <a:spcPts val="600"/>
              </a:spcAft>
              <a:buFont typeface="Arial" panose="020B0604020202020204" pitchFamily="34" charset="0"/>
              <a:buNone/>
            </a:pPr>
            <a:r>
              <a:rPr lang="en-US" sz="900" b="1" dirty="0"/>
              <a:t>Warehouse vs Retail</a:t>
            </a:r>
          </a:p>
          <a:p>
            <a:pPr marL="0" lvl="1" indent="0">
              <a:lnSpc>
                <a:spcPct val="90000"/>
              </a:lnSpc>
              <a:spcBef>
                <a:spcPts val="1000"/>
              </a:spcBef>
              <a:spcAft>
                <a:spcPts val="600"/>
              </a:spcAft>
              <a:buFont typeface="Arial" panose="020B0604020202020204" pitchFamily="34" charset="0"/>
              <a:buNone/>
            </a:pPr>
            <a:r>
              <a:rPr lang="en-US" sz="900" dirty="0"/>
              <a:t>Tailor each space to what sells the best and focus on improving in those areas.</a:t>
            </a:r>
          </a:p>
          <a:p>
            <a:pPr marL="0" indent="0">
              <a:lnSpc>
                <a:spcPct val="90000"/>
              </a:lnSpc>
              <a:spcBef>
                <a:spcPts val="2500"/>
              </a:spcBef>
              <a:spcAft>
                <a:spcPts val="600"/>
              </a:spcAft>
              <a:buFont typeface="Arial" panose="020B0604020202020204" pitchFamily="34" charset="0"/>
              <a:buNone/>
            </a:pPr>
            <a:r>
              <a:rPr lang="en-US" sz="900" b="1" dirty="0"/>
              <a:t>Non-Alcoholic</a:t>
            </a:r>
          </a:p>
          <a:p>
            <a:pPr marL="0" lvl="1" indent="0">
              <a:lnSpc>
                <a:spcPct val="90000"/>
              </a:lnSpc>
              <a:spcBef>
                <a:spcPts val="1000"/>
              </a:spcBef>
              <a:spcAft>
                <a:spcPts val="600"/>
              </a:spcAft>
              <a:buFont typeface="Arial" panose="020B0604020202020204" pitchFamily="34" charset="0"/>
              <a:buNone/>
            </a:pPr>
            <a:r>
              <a:rPr lang="en-US" sz="900" dirty="0"/>
              <a:t>Non-alcoholic will be big in the future, as shown by the considerable jump in 2020. Invest into non-</a:t>
            </a:r>
            <a:r>
              <a:rPr lang="en-US" sz="900" dirty="0" err="1"/>
              <a:t>alcholic</a:t>
            </a:r>
            <a:r>
              <a:rPr lang="en-US" sz="900" dirty="0"/>
              <a:t> products.</a:t>
            </a:r>
          </a:p>
        </p:txBody>
      </p:sp>
      <p:pic>
        <p:nvPicPr>
          <p:cNvPr id="7" name="Content Placeholder 6" descr="Businesswoman using digital tablet with online shopping process icons on blackboard">
            <a:extLst>
              <a:ext uri="{FF2B5EF4-FFF2-40B4-BE49-F238E27FC236}">
                <a16:creationId xmlns:a16="http://schemas.microsoft.com/office/drawing/2014/main" id="{5921D074-4ED7-42FC-B455-9D1BFC17872A}"/>
              </a:ext>
            </a:extLst>
          </p:cNvPr>
          <p:cNvPicPr>
            <a:picLocks noGrp="1" noChangeAspect="1"/>
          </p:cNvPicPr>
          <p:nvPr>
            <p:ph type="pic" sz="quarter" idx="15"/>
          </p:nvPr>
        </p:nvPicPr>
        <p:blipFill>
          <a:blip r:embed="rId3"/>
          <a:srcRect t="27111" b="24360"/>
          <a:stretch>
            <a:fillRect/>
          </a:stretch>
        </p:blipFill>
        <p:spPr>
          <a:xfrm>
            <a:off x="20" y="10"/>
            <a:ext cx="11750020" cy="3806236"/>
          </a:xfrm>
          <a:prstGeom prst="rect">
            <a:avLst/>
          </a:prstGeom>
          <a:noFill/>
        </p:spPr>
      </p:pic>
      <p:sp>
        <p:nvSpPr>
          <p:cNvPr id="4" name="Date Placeholder 3">
            <a:extLst>
              <a:ext uri="{FF2B5EF4-FFF2-40B4-BE49-F238E27FC236}">
                <a16:creationId xmlns:a16="http://schemas.microsoft.com/office/drawing/2014/main" id="{FD0531B6-60B4-3CF5-7412-47224F915C9D}"/>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C9103FBE-E9B7-3FA7-84CD-4060642E75B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ACF9A233-6DC6-DB8C-212A-191C8D428010}"/>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16</a:t>
            </a:fld>
            <a:endParaRPr lang="en-US"/>
          </a:p>
        </p:txBody>
      </p:sp>
    </p:spTree>
    <p:extLst>
      <p:ext uri="{BB962C8B-B14F-4D97-AF65-F5344CB8AC3E}">
        <p14:creationId xmlns:p14="http://schemas.microsoft.com/office/powerpoint/2010/main" val="41645453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E11D8-CD3C-81E4-5A5E-0B7412D4780D}"/>
              </a:ext>
            </a:extLst>
          </p:cNvPr>
          <p:cNvSpPr>
            <a:spLocks noGrp="1"/>
          </p:cNvSpPr>
          <p:nvPr>
            <p:ph type="title"/>
          </p:nvPr>
        </p:nvSpPr>
        <p:spPr>
          <a:xfrm>
            <a:off x="429768" y="429768"/>
            <a:ext cx="10890374" cy="1627632"/>
          </a:xfrm>
        </p:spPr>
        <p:txBody>
          <a:bodyPr anchor="t">
            <a:normAutofit/>
          </a:bodyPr>
          <a:lstStyle/>
          <a:p>
            <a:r>
              <a:rPr lang="en-US" sz="5000"/>
              <a:t>Conclusion: Driving Success Through Insightful Analysis</a:t>
            </a:r>
          </a:p>
        </p:txBody>
      </p:sp>
      <p:graphicFrame>
        <p:nvGraphicFramePr>
          <p:cNvPr id="10" name="Content Placeholder 2">
            <a:extLst>
              <a:ext uri="{FF2B5EF4-FFF2-40B4-BE49-F238E27FC236}">
                <a16:creationId xmlns:a16="http://schemas.microsoft.com/office/drawing/2014/main" id="{5BB75FB1-59AB-27F9-14DC-9FE3928AFF4E}"/>
              </a:ext>
            </a:extLst>
          </p:cNvPr>
          <p:cNvGraphicFramePr>
            <a:graphicFrameLocks noGrp="1"/>
          </p:cNvGraphicFramePr>
          <p:nvPr>
            <p:ph sz="quarter" idx="13"/>
            <p:extLst>
              <p:ext uri="{D42A27DB-BD31-4B8C-83A1-F6EECF244321}">
                <p14:modId xmlns:p14="http://schemas.microsoft.com/office/powerpoint/2010/main" val="311879203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3264408"/>
          <a:ext cx="10890374" cy="283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AE769EE7-1039-E605-12A7-3DC5EBD41017}"/>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11/19/2025</a:t>
            </a:fld>
            <a:endParaRPr lang="en-US"/>
          </a:p>
        </p:txBody>
      </p:sp>
      <p:sp>
        <p:nvSpPr>
          <p:cNvPr id="5" name="Footer Placeholder 4">
            <a:extLst>
              <a:ext uri="{FF2B5EF4-FFF2-40B4-BE49-F238E27FC236}">
                <a16:creationId xmlns:a16="http://schemas.microsoft.com/office/drawing/2014/main" id="{8CBE76B9-55AD-2970-AE6C-BC8032733B36}"/>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Slide Number Placeholder 5">
            <a:extLst>
              <a:ext uri="{FF2B5EF4-FFF2-40B4-BE49-F238E27FC236}">
                <a16:creationId xmlns:a16="http://schemas.microsoft.com/office/drawing/2014/main" id="{6D0BB224-176E-31FA-05EA-4C0C9BD0D2E5}"/>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17</a:t>
            </a:fld>
            <a:endParaRPr lang="en-US"/>
          </a:p>
        </p:txBody>
      </p:sp>
    </p:spTree>
    <p:extLst>
      <p:ext uri="{BB962C8B-B14F-4D97-AF65-F5344CB8AC3E}">
        <p14:creationId xmlns:p14="http://schemas.microsoft.com/office/powerpoint/2010/main" val="134594662"/>
      </p:ext>
    </p:extLst>
  </p:cSld>
  <p:clrMapOvr>
    <a:masterClrMapping/>
  </p:clrMapOvr>
  <p:transition>
    <p:fade/>
  </p:transition>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1295</Words>
  <Application>Microsoft Office PowerPoint</Application>
  <PresentationFormat>Widescreen</PresentationFormat>
  <Paragraphs>172</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Neue Haas Grotesk Text Pro</vt:lpstr>
      <vt:lpstr>OasisVTI</vt:lpstr>
      <vt:lpstr>Warehouse and Retail Alcohol Sales report and analysis</vt:lpstr>
      <vt:lpstr>Key Focus Areas</vt:lpstr>
      <vt:lpstr>Overview of Alcohol Sales Performance</vt:lpstr>
      <vt:lpstr>Objectives of the Sales Report</vt:lpstr>
      <vt:lpstr>Key Metrics and Definitions</vt:lpstr>
      <vt:lpstr>Data Sources and Methodology</vt:lpstr>
      <vt:lpstr>Warehouse Alcohol Sales Analysis</vt:lpstr>
      <vt:lpstr>Warehouse sales and revenue trends</vt:lpstr>
      <vt:lpstr>Retail Alcohol Sales Analysis</vt:lpstr>
      <vt:lpstr>Retail Sales Volume and Revenue Trends</vt:lpstr>
      <vt:lpstr>Comparative Insights: Warehouse Vs. Retail</vt:lpstr>
      <vt:lpstr>Comparison of Sales Performance</vt:lpstr>
      <vt:lpstr>Analysis of Distribution Efficiency</vt:lpstr>
      <vt:lpstr>Recommendations for Optimization</vt:lpstr>
      <vt:lpstr>Strategic Recommendations and Future Outlook</vt:lpstr>
      <vt:lpstr>Opportunities for Growth in Both Sections</vt:lpstr>
      <vt:lpstr>Conclusion: Driving Success Through Insightful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Buikema</dc:creator>
  <cp:lastModifiedBy>Eric Buikema</cp:lastModifiedBy>
  <cp:revision>1</cp:revision>
  <dcterms:created xsi:type="dcterms:W3CDTF">2025-11-20T02:18:21Z</dcterms:created>
  <dcterms:modified xsi:type="dcterms:W3CDTF">2025-11-20T02:54:54Z</dcterms:modified>
</cp:coreProperties>
</file>